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Noto Serif Display ExtraCondensed Bold"/>
      <p:regular r:id="rId18"/>
    </p:embeddedFont>
    <p:embeddedFont>
      <p:font typeface="Georgia Pro Condensed" charset="0"/>
      <p:regular r:id="rId19"/>
    </p:embeddedFont>
    <p:embeddedFont>
      <p:font typeface="Raleway" charset="0"/>
      <p:regular r:id="rId20"/>
    </p:embeddedFont>
    <p:embeddedFont>
      <p:font typeface="Calibri" pitchFamily="34" charset="0"/>
      <p:regular r:id="rId21"/>
      <p:bold r:id="rId22"/>
      <p:italic r:id="rId23"/>
      <p:boldItalic r:id="rId24"/>
    </p:embeddedFont>
    <p:embeddedFont>
      <p:font typeface="Noto Serif Display ExtraCondensed Light"/>
      <p:regular r:id="rId25"/>
    </p:embeddedFont>
    <p:embeddedFont>
      <p:font typeface="Raleway Bold"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1" d="100"/>
          <a:sy n="51" d="100"/>
        </p:scale>
        <p:origin x="-456" y="-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8C52FF">
                <a:alpha val="100000"/>
              </a:srgbClr>
            </a:gs>
            <a:gs pos="100000">
              <a:srgbClr val="FF914D">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1868150" y="666750"/>
            <a:ext cx="5753100" cy="8953500"/>
            <a:chOff x="0" y="0"/>
            <a:chExt cx="814724" cy="1267949"/>
          </a:xfrm>
        </p:grpSpPr>
        <p:sp>
          <p:nvSpPr>
            <p:cNvPr id="3" name="Freeform 3"/>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t="-199" b="-199"/>
              </a:stretch>
            </a:blipFill>
          </p:spPr>
        </p:sp>
      </p:grpSp>
      <p:sp>
        <p:nvSpPr>
          <p:cNvPr id="4" name="Freeform 4"/>
          <p:cNvSpPr/>
          <p:nvPr/>
        </p:nvSpPr>
        <p:spPr>
          <a:xfrm rot="-3117037">
            <a:off x="8947742" y="7656091"/>
            <a:ext cx="2112604" cy="1859092"/>
          </a:xfrm>
          <a:custGeom>
            <a:avLst/>
            <a:gdLst/>
            <a:ahLst/>
            <a:cxnLst/>
            <a:rect l="l" t="t" r="r" b="b"/>
            <a:pathLst>
              <a:path w="2112604" h="1859092">
                <a:moveTo>
                  <a:pt x="0" y="0"/>
                </a:moveTo>
                <a:lnTo>
                  <a:pt x="2112604" y="0"/>
                </a:lnTo>
                <a:lnTo>
                  <a:pt x="2112604" y="1859091"/>
                </a:lnTo>
                <a:lnTo>
                  <a:pt x="0" y="185909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Freeform 5"/>
          <p:cNvSpPr/>
          <p:nvPr/>
        </p:nvSpPr>
        <p:spPr>
          <a:xfrm>
            <a:off x="7962519" y="698843"/>
            <a:ext cx="3575050" cy="3575050"/>
          </a:xfrm>
          <a:custGeom>
            <a:avLst/>
            <a:gdLst/>
            <a:ahLst/>
            <a:cxnLst/>
            <a:rect l="l" t="t" r="r" b="b"/>
            <a:pathLst>
              <a:path w="3575050" h="3575050">
                <a:moveTo>
                  <a:pt x="0" y="0"/>
                </a:moveTo>
                <a:lnTo>
                  <a:pt x="3575050" y="0"/>
                </a:lnTo>
                <a:lnTo>
                  <a:pt x="3575050" y="3575050"/>
                </a:lnTo>
                <a:lnTo>
                  <a:pt x="0" y="357505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TextBox 6"/>
          <p:cNvSpPr txBox="1"/>
          <p:nvPr/>
        </p:nvSpPr>
        <p:spPr>
          <a:xfrm>
            <a:off x="583257" y="4686300"/>
            <a:ext cx="7505319" cy="1705595"/>
          </a:xfrm>
          <a:prstGeom prst="rect">
            <a:avLst/>
          </a:prstGeom>
        </p:spPr>
        <p:txBody>
          <a:bodyPr wrap="square" lIns="0" tIns="0" rIns="0" bIns="0" rtlCol="0" anchor="t">
            <a:spAutoFit/>
          </a:bodyPr>
          <a:lstStyle/>
          <a:p>
            <a:pPr marL="0" lvl="0" indent="0" algn="l">
              <a:lnSpc>
                <a:spcPts val="13256"/>
              </a:lnSpc>
            </a:pPr>
            <a:r>
              <a:rPr lang="en-US" sz="13256" u="none" strike="noStrike" spc="-463" dirty="0" err="1" smtClean="0">
                <a:solidFill>
                  <a:srgbClr val="FFFFFF"/>
                </a:solidFill>
                <a:latin typeface="Georgia Pro Condensed"/>
                <a:ea typeface="Georgia Pro Condensed"/>
                <a:cs typeface="Georgia Pro Condensed"/>
                <a:sym typeface="Georgia Pro Condensed"/>
              </a:rPr>
              <a:t>Instagram</a:t>
            </a:r>
            <a:endParaRPr lang="en-US" sz="11356" u="none" strike="noStrike" spc="-397" dirty="0">
              <a:solidFill>
                <a:srgbClr val="FFFFFF"/>
              </a:solidFill>
              <a:latin typeface="Georgia Pro Condensed"/>
              <a:ea typeface="Georgia Pro Condensed"/>
              <a:cs typeface="Georgia Pro Condensed"/>
              <a:sym typeface="Georgia Pro Condensed"/>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6040"/>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10287000"/>
            <a:chOff x="0" y="0"/>
            <a:chExt cx="1393034" cy="1593725"/>
          </a:xfrm>
        </p:grpSpPr>
        <p:sp>
          <p:nvSpPr>
            <p:cNvPr id="3" name="Freeform 3"/>
            <p:cNvSpPr/>
            <p:nvPr/>
          </p:nvSpPr>
          <p:spPr>
            <a:xfrm>
              <a:off x="0" y="0"/>
              <a:ext cx="1393034" cy="1593725"/>
            </a:xfrm>
            <a:custGeom>
              <a:avLst/>
              <a:gdLst/>
              <a:ahLst/>
              <a:cxnLst/>
              <a:rect l="l" t="t" r="r" b="b"/>
              <a:pathLst>
                <a:path w="1393034" h="1593725">
                  <a:moveTo>
                    <a:pt x="0" y="0"/>
                  </a:moveTo>
                  <a:lnTo>
                    <a:pt x="1393034" y="0"/>
                  </a:lnTo>
                  <a:lnTo>
                    <a:pt x="1393034" y="1593725"/>
                  </a:lnTo>
                  <a:lnTo>
                    <a:pt x="0" y="1593725"/>
                  </a:lnTo>
                  <a:close/>
                </a:path>
              </a:pathLst>
            </a:custGeom>
            <a:blipFill>
              <a:blip r:embed="rId2"/>
              <a:stretch>
                <a:fillRect t="-378" b="-378"/>
              </a:stretch>
            </a:blipFill>
          </p:spPr>
        </p:sp>
      </p:grpSp>
      <p:sp>
        <p:nvSpPr>
          <p:cNvPr id="4" name="TextBox 4"/>
          <p:cNvSpPr txBox="1"/>
          <p:nvPr/>
        </p:nvSpPr>
        <p:spPr>
          <a:xfrm>
            <a:off x="666750" y="1638300"/>
            <a:ext cx="6886575" cy="508635"/>
          </a:xfrm>
          <a:prstGeom prst="rect">
            <a:avLst/>
          </a:prstGeom>
        </p:spPr>
        <p:txBody>
          <a:bodyPr lIns="0" tIns="0" rIns="0" bIns="0" rtlCol="0" anchor="t">
            <a:spAutoFit/>
          </a:bodyPr>
          <a:lstStyle/>
          <a:p>
            <a:pPr marL="0" lvl="0" indent="0" algn="l">
              <a:lnSpc>
                <a:spcPts val="3899"/>
              </a:lnSpc>
            </a:pPr>
            <a:r>
              <a:rPr lang="en-US" sz="3899" b="1" u="none">
                <a:solidFill>
                  <a:srgbClr val="FFFFFF"/>
                </a:solidFill>
                <a:latin typeface="HK Grotesk Semi-Bold"/>
                <a:ea typeface="HK Grotesk Semi-Bold"/>
                <a:cs typeface="HK Grotesk Semi-Bold"/>
                <a:sym typeface="HK Grotesk Semi-Bold"/>
              </a:rPr>
              <a:t>Exploring Instagram Personas</a:t>
            </a:r>
          </a:p>
        </p:txBody>
      </p:sp>
      <p:grpSp>
        <p:nvGrpSpPr>
          <p:cNvPr id="5" name="Group 5"/>
          <p:cNvGrpSpPr/>
          <p:nvPr/>
        </p:nvGrpSpPr>
        <p:grpSpPr>
          <a:xfrm>
            <a:off x="666750" y="3023235"/>
            <a:ext cx="6886575" cy="6470142"/>
            <a:chOff x="0" y="0"/>
            <a:chExt cx="9182100" cy="8626856"/>
          </a:xfrm>
        </p:grpSpPr>
        <p:sp>
          <p:nvSpPr>
            <p:cNvPr id="6" name="TextBox 6"/>
            <p:cNvSpPr txBox="1"/>
            <p:nvPr/>
          </p:nvSpPr>
          <p:spPr>
            <a:xfrm>
              <a:off x="0" y="8068056"/>
              <a:ext cx="9182100" cy="558800"/>
            </a:xfrm>
            <a:prstGeom prst="rect">
              <a:avLst/>
            </a:prstGeom>
          </p:spPr>
          <p:txBody>
            <a:bodyPr lIns="0" tIns="0" rIns="0" bIns="0" rtlCol="0" anchor="t">
              <a:spAutoFit/>
            </a:bodyPr>
            <a:lstStyle/>
            <a:p>
              <a:pPr marL="0" lvl="0" indent="0" algn="l">
                <a:lnSpc>
                  <a:spcPts val="3359"/>
                </a:lnSpc>
                <a:spcBef>
                  <a:spcPct val="0"/>
                </a:spcBef>
              </a:pPr>
              <a:endParaRPr/>
            </a:p>
          </p:txBody>
        </p:sp>
        <p:sp>
          <p:nvSpPr>
            <p:cNvPr id="7" name="TextBox 7"/>
            <p:cNvSpPr txBox="1"/>
            <p:nvPr/>
          </p:nvSpPr>
          <p:spPr>
            <a:xfrm>
              <a:off x="0" y="409575"/>
              <a:ext cx="9182100" cy="6789801"/>
            </a:xfrm>
            <a:prstGeom prst="rect">
              <a:avLst/>
            </a:prstGeom>
          </p:spPr>
          <p:txBody>
            <a:bodyPr lIns="0" tIns="0" rIns="0" bIns="0" rtlCol="0" anchor="t">
              <a:spAutoFit/>
            </a:bodyPr>
            <a:lstStyle/>
            <a:p>
              <a:pPr marL="0" lvl="0" indent="0" algn="l">
                <a:lnSpc>
                  <a:spcPts val="12797"/>
                </a:lnSpc>
              </a:pPr>
              <a:r>
                <a:rPr lang="en-US" sz="14219" spc="-284">
                  <a:solidFill>
                    <a:srgbClr val="FFFFFF"/>
                  </a:solidFill>
                  <a:latin typeface="Noto Serif Display ExtraCondensed Light"/>
                  <a:ea typeface="Noto Serif Display ExtraCondensed Light"/>
                  <a:cs typeface="Noto Serif Display ExtraCondensed Light"/>
                  <a:sym typeface="Noto Serif Display ExtraCondensed Light"/>
                </a:rPr>
                <a:t>User Personas Unveiled</a:t>
              </a:r>
            </a:p>
          </p:txBody>
        </p:sp>
      </p:grpSp>
      <p:sp>
        <p:nvSpPr>
          <p:cNvPr id="8" name="AutoShape 8"/>
          <p:cNvSpPr/>
          <p:nvPr/>
        </p:nvSpPr>
        <p:spPr>
          <a:xfrm>
            <a:off x="0" y="676275"/>
            <a:ext cx="9296400" cy="0"/>
          </a:xfrm>
          <a:prstGeom prst="line">
            <a:avLst/>
          </a:prstGeom>
          <a:ln w="19050" cap="flat">
            <a:solidFill>
              <a:srgbClr val="833AB4"/>
            </a:solidFill>
            <a:prstDash val="solid"/>
            <a:headEnd type="none" w="sm" len="sm"/>
            <a:tailEnd type="none" w="sm" len="sm"/>
          </a:ln>
        </p:spPr>
      </p:sp>
      <p:sp>
        <p:nvSpPr>
          <p:cNvPr id="9" name="AutoShape 9"/>
          <p:cNvSpPr/>
          <p:nvPr/>
        </p:nvSpPr>
        <p:spPr>
          <a:xfrm>
            <a:off x="0" y="9553575"/>
            <a:ext cx="9296400" cy="0"/>
          </a:xfrm>
          <a:prstGeom prst="line">
            <a:avLst/>
          </a:prstGeom>
          <a:ln w="19050" cap="flat">
            <a:solidFill>
              <a:srgbClr val="833AB4"/>
            </a:solidFill>
            <a:prstDash val="solid"/>
            <a:headEnd type="none" w="sm" len="sm"/>
            <a:tailEnd type="none" w="sm" len="sm"/>
          </a:ln>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5757">
                <a:alpha val="100000"/>
              </a:srgbClr>
            </a:gs>
            <a:gs pos="100000">
              <a:srgbClr val="8C52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666750" y="4248150"/>
            <a:ext cx="3097127" cy="2228850"/>
            <a:chOff x="0" y="0"/>
            <a:chExt cx="479826" cy="345307"/>
          </a:xfrm>
        </p:grpSpPr>
        <p:sp>
          <p:nvSpPr>
            <p:cNvPr id="3" name="Freeform 3"/>
            <p:cNvSpPr/>
            <p:nvPr/>
          </p:nvSpPr>
          <p:spPr>
            <a:xfrm>
              <a:off x="0" y="0"/>
              <a:ext cx="479826" cy="345307"/>
            </a:xfrm>
            <a:custGeom>
              <a:avLst/>
              <a:gdLst/>
              <a:ahLst/>
              <a:cxnLst/>
              <a:rect l="l" t="t" r="r" b="b"/>
              <a:pathLst>
                <a:path w="479826" h="345307">
                  <a:moveTo>
                    <a:pt x="0" y="0"/>
                  </a:moveTo>
                  <a:lnTo>
                    <a:pt x="479826" y="0"/>
                  </a:lnTo>
                  <a:lnTo>
                    <a:pt x="479826" y="345307"/>
                  </a:lnTo>
                  <a:lnTo>
                    <a:pt x="0" y="345307"/>
                  </a:lnTo>
                  <a:close/>
                </a:path>
              </a:pathLst>
            </a:custGeom>
            <a:blipFill>
              <a:blip r:embed="rId2"/>
              <a:stretch>
                <a:fillRect l="-413" r="-413"/>
              </a:stretch>
            </a:blipFill>
          </p:spPr>
        </p:sp>
      </p:grpSp>
      <p:grpSp>
        <p:nvGrpSpPr>
          <p:cNvPr id="4" name="Group 4"/>
          <p:cNvGrpSpPr/>
          <p:nvPr/>
        </p:nvGrpSpPr>
        <p:grpSpPr>
          <a:xfrm>
            <a:off x="4130944" y="4248150"/>
            <a:ext cx="3097127" cy="2228850"/>
            <a:chOff x="0" y="0"/>
            <a:chExt cx="479826" cy="345307"/>
          </a:xfrm>
        </p:grpSpPr>
        <p:sp>
          <p:nvSpPr>
            <p:cNvPr id="5" name="Freeform 5"/>
            <p:cNvSpPr/>
            <p:nvPr/>
          </p:nvSpPr>
          <p:spPr>
            <a:xfrm>
              <a:off x="0" y="0"/>
              <a:ext cx="479826" cy="345307"/>
            </a:xfrm>
            <a:custGeom>
              <a:avLst/>
              <a:gdLst/>
              <a:ahLst/>
              <a:cxnLst/>
              <a:rect l="l" t="t" r="r" b="b"/>
              <a:pathLst>
                <a:path w="479826" h="345307">
                  <a:moveTo>
                    <a:pt x="0" y="0"/>
                  </a:moveTo>
                  <a:lnTo>
                    <a:pt x="479826" y="0"/>
                  </a:lnTo>
                  <a:lnTo>
                    <a:pt x="479826" y="345307"/>
                  </a:lnTo>
                  <a:lnTo>
                    <a:pt x="0" y="345307"/>
                  </a:lnTo>
                  <a:close/>
                </a:path>
              </a:pathLst>
            </a:custGeom>
            <a:blipFill>
              <a:blip r:embed="rId3"/>
              <a:stretch>
                <a:fillRect l="-413" r="-413"/>
              </a:stretch>
            </a:blipFill>
          </p:spPr>
        </p:sp>
      </p:grpSp>
      <p:grpSp>
        <p:nvGrpSpPr>
          <p:cNvPr id="6" name="Group 6"/>
          <p:cNvGrpSpPr/>
          <p:nvPr/>
        </p:nvGrpSpPr>
        <p:grpSpPr>
          <a:xfrm>
            <a:off x="7595139" y="4248150"/>
            <a:ext cx="3097127" cy="2228850"/>
            <a:chOff x="0" y="0"/>
            <a:chExt cx="479826" cy="345307"/>
          </a:xfrm>
        </p:grpSpPr>
        <p:sp>
          <p:nvSpPr>
            <p:cNvPr id="7" name="Freeform 7"/>
            <p:cNvSpPr/>
            <p:nvPr/>
          </p:nvSpPr>
          <p:spPr>
            <a:xfrm>
              <a:off x="0" y="0"/>
              <a:ext cx="479826" cy="345307"/>
            </a:xfrm>
            <a:custGeom>
              <a:avLst/>
              <a:gdLst/>
              <a:ahLst/>
              <a:cxnLst/>
              <a:rect l="l" t="t" r="r" b="b"/>
              <a:pathLst>
                <a:path w="479826" h="345307">
                  <a:moveTo>
                    <a:pt x="0" y="0"/>
                  </a:moveTo>
                  <a:lnTo>
                    <a:pt x="479826" y="0"/>
                  </a:lnTo>
                  <a:lnTo>
                    <a:pt x="479826" y="345307"/>
                  </a:lnTo>
                  <a:lnTo>
                    <a:pt x="0" y="345307"/>
                  </a:lnTo>
                  <a:close/>
                </a:path>
              </a:pathLst>
            </a:custGeom>
            <a:blipFill>
              <a:blip r:embed="rId4"/>
              <a:stretch>
                <a:fillRect l="-413" r="-413"/>
              </a:stretch>
            </a:blipFill>
          </p:spPr>
        </p:sp>
      </p:grpSp>
      <p:grpSp>
        <p:nvGrpSpPr>
          <p:cNvPr id="8" name="Group 8"/>
          <p:cNvGrpSpPr/>
          <p:nvPr/>
        </p:nvGrpSpPr>
        <p:grpSpPr>
          <a:xfrm>
            <a:off x="11059333" y="4248150"/>
            <a:ext cx="3097127" cy="2228850"/>
            <a:chOff x="0" y="0"/>
            <a:chExt cx="479826" cy="345307"/>
          </a:xfrm>
        </p:grpSpPr>
        <p:sp>
          <p:nvSpPr>
            <p:cNvPr id="9" name="Freeform 9"/>
            <p:cNvSpPr/>
            <p:nvPr/>
          </p:nvSpPr>
          <p:spPr>
            <a:xfrm>
              <a:off x="0" y="0"/>
              <a:ext cx="479826" cy="345307"/>
            </a:xfrm>
            <a:custGeom>
              <a:avLst/>
              <a:gdLst/>
              <a:ahLst/>
              <a:cxnLst/>
              <a:rect l="l" t="t" r="r" b="b"/>
              <a:pathLst>
                <a:path w="479826" h="345307">
                  <a:moveTo>
                    <a:pt x="0" y="0"/>
                  </a:moveTo>
                  <a:lnTo>
                    <a:pt x="479826" y="0"/>
                  </a:lnTo>
                  <a:lnTo>
                    <a:pt x="479826" y="345307"/>
                  </a:lnTo>
                  <a:lnTo>
                    <a:pt x="0" y="345307"/>
                  </a:lnTo>
                  <a:close/>
                </a:path>
              </a:pathLst>
            </a:custGeom>
            <a:blipFill>
              <a:blip r:embed="rId5"/>
              <a:stretch>
                <a:fillRect l="-413" r="-413"/>
              </a:stretch>
            </a:blipFill>
          </p:spPr>
        </p:sp>
      </p:grpSp>
      <p:grpSp>
        <p:nvGrpSpPr>
          <p:cNvPr id="10" name="Group 10"/>
          <p:cNvGrpSpPr/>
          <p:nvPr/>
        </p:nvGrpSpPr>
        <p:grpSpPr>
          <a:xfrm>
            <a:off x="14523527" y="4248150"/>
            <a:ext cx="3097127" cy="2228850"/>
            <a:chOff x="0" y="0"/>
            <a:chExt cx="479826" cy="345307"/>
          </a:xfrm>
        </p:grpSpPr>
        <p:sp>
          <p:nvSpPr>
            <p:cNvPr id="11" name="Freeform 11"/>
            <p:cNvSpPr/>
            <p:nvPr/>
          </p:nvSpPr>
          <p:spPr>
            <a:xfrm>
              <a:off x="0" y="0"/>
              <a:ext cx="479826" cy="345307"/>
            </a:xfrm>
            <a:custGeom>
              <a:avLst/>
              <a:gdLst/>
              <a:ahLst/>
              <a:cxnLst/>
              <a:rect l="l" t="t" r="r" b="b"/>
              <a:pathLst>
                <a:path w="479826" h="345307">
                  <a:moveTo>
                    <a:pt x="0" y="0"/>
                  </a:moveTo>
                  <a:lnTo>
                    <a:pt x="479826" y="0"/>
                  </a:lnTo>
                  <a:lnTo>
                    <a:pt x="479826" y="345307"/>
                  </a:lnTo>
                  <a:lnTo>
                    <a:pt x="0" y="345307"/>
                  </a:lnTo>
                  <a:close/>
                </a:path>
              </a:pathLst>
            </a:custGeom>
            <a:blipFill>
              <a:blip r:embed="rId6"/>
              <a:stretch>
                <a:fillRect l="-413" r="-413"/>
              </a:stretch>
            </a:blipFill>
          </p:spPr>
        </p:sp>
      </p:grpSp>
      <p:grpSp>
        <p:nvGrpSpPr>
          <p:cNvPr id="12" name="Group 12"/>
          <p:cNvGrpSpPr/>
          <p:nvPr/>
        </p:nvGrpSpPr>
        <p:grpSpPr>
          <a:xfrm>
            <a:off x="666750" y="6934994"/>
            <a:ext cx="3097127" cy="2104231"/>
            <a:chOff x="0" y="0"/>
            <a:chExt cx="4129503" cy="2805642"/>
          </a:xfrm>
        </p:grpSpPr>
        <p:sp>
          <p:nvSpPr>
            <p:cNvPr id="13" name="TextBox 13"/>
            <p:cNvSpPr txBox="1"/>
            <p:nvPr/>
          </p:nvSpPr>
          <p:spPr>
            <a:xfrm>
              <a:off x="0" y="1053042"/>
              <a:ext cx="4129503" cy="1752600"/>
            </a:xfrm>
            <a:prstGeom prst="rect">
              <a:avLst/>
            </a:prstGeom>
          </p:spPr>
          <p:txBody>
            <a:bodyPr lIns="0" tIns="0" rIns="0" bIns="0" rtlCol="0" anchor="t">
              <a:spAutoFit/>
            </a:bodyPr>
            <a:lstStyle/>
            <a:p>
              <a:pPr marL="322231" lvl="1" indent="-161115" algn="l">
                <a:lnSpc>
                  <a:spcPts val="1790"/>
                </a:lnSpc>
                <a:buFont typeface="Arial"/>
                <a:buChar char="•"/>
              </a:pPr>
              <a:r>
                <a:rPr lang="en-US" sz="1492">
                  <a:solidFill>
                    <a:srgbClr val="FFFFFF"/>
                  </a:solidFill>
                  <a:latin typeface="HK Grotesk"/>
                  <a:ea typeface="HK Grotesk"/>
                  <a:cs typeface="HK Grotesk"/>
                  <a:sym typeface="HK Grotesk"/>
                </a:rPr>
                <a:t>E</a:t>
              </a:r>
              <a:r>
                <a:rPr lang="en-US" sz="1492" u="none" strike="noStrike">
                  <a:solidFill>
                    <a:srgbClr val="FFFFFF"/>
                  </a:solidFill>
                  <a:latin typeface="HK Grotesk"/>
                  <a:ea typeface="HK Grotesk"/>
                  <a:cs typeface="HK Grotesk"/>
                  <a:sym typeface="HK Grotesk"/>
                </a:rPr>
                <a:t>ngage her followers with creative reels and stories</a:t>
              </a:r>
            </a:p>
            <a:p>
              <a:pPr marL="322231" lvl="1" indent="-161115" algn="l">
                <a:lnSpc>
                  <a:spcPts val="1790"/>
                </a:lnSpc>
                <a:buFont typeface="Arial"/>
                <a:buChar char="•"/>
              </a:pPr>
              <a:r>
                <a:rPr lang="en-US" sz="1492" u="none" strike="noStrike">
                  <a:solidFill>
                    <a:srgbClr val="FFFFFF"/>
                  </a:solidFill>
                  <a:latin typeface="HK Grotesk"/>
                  <a:ea typeface="HK Grotesk"/>
                  <a:cs typeface="HK Grotesk"/>
                  <a:sym typeface="HK Grotesk"/>
                </a:rPr>
                <a:t> Build a personal brand for media internships</a:t>
              </a:r>
            </a:p>
            <a:p>
              <a:pPr marL="322231" lvl="1" indent="-161115" algn="l">
                <a:lnSpc>
                  <a:spcPts val="1790"/>
                </a:lnSpc>
                <a:buFont typeface="Arial"/>
                <a:buChar char="•"/>
              </a:pPr>
              <a:r>
                <a:rPr lang="en-US" sz="1492" u="none" strike="noStrike">
                  <a:solidFill>
                    <a:srgbClr val="FFFFFF"/>
                  </a:solidFill>
                  <a:latin typeface="HK Grotesk"/>
                  <a:ea typeface="HK Grotesk"/>
                  <a:cs typeface="HK Grotesk"/>
                  <a:sym typeface="HK Grotesk"/>
                </a:rPr>
                <a:t>Stay up to date with friends and trending content</a:t>
              </a:r>
            </a:p>
          </p:txBody>
        </p:sp>
        <p:sp>
          <p:nvSpPr>
            <p:cNvPr id="14" name="TextBox 14"/>
            <p:cNvSpPr txBox="1"/>
            <p:nvPr/>
          </p:nvSpPr>
          <p:spPr>
            <a:xfrm>
              <a:off x="0" y="0"/>
              <a:ext cx="4129503" cy="419100"/>
            </a:xfrm>
            <a:prstGeom prst="rect">
              <a:avLst/>
            </a:prstGeom>
          </p:spPr>
          <p:txBody>
            <a:bodyPr lIns="0" tIns="0" rIns="0" bIns="0" rtlCol="0" anchor="t">
              <a:spAutoFit/>
            </a:bodyPr>
            <a:lstStyle/>
            <a:p>
              <a:pPr marL="0" lvl="0" indent="0" algn="l">
                <a:lnSpc>
                  <a:spcPts val="2486"/>
                </a:lnSpc>
              </a:pPr>
              <a:r>
                <a:rPr lang="en-US" sz="2072" b="1" u="none" strike="noStrike">
                  <a:solidFill>
                    <a:srgbClr val="FFFFFF"/>
                  </a:solidFill>
                  <a:latin typeface="HK Grotesk Semi-Bold"/>
                  <a:ea typeface="HK Grotesk Semi-Bold"/>
                  <a:cs typeface="HK Grotesk Semi-Bold"/>
                  <a:sym typeface="HK Grotesk Semi-Bold"/>
                </a:rPr>
                <a:t>Goals and Aspirations</a:t>
              </a:r>
            </a:p>
          </p:txBody>
        </p:sp>
      </p:grpSp>
      <p:grpSp>
        <p:nvGrpSpPr>
          <p:cNvPr id="15" name="Group 15"/>
          <p:cNvGrpSpPr/>
          <p:nvPr/>
        </p:nvGrpSpPr>
        <p:grpSpPr>
          <a:xfrm>
            <a:off x="4130944" y="6934994"/>
            <a:ext cx="3097127" cy="2104231"/>
            <a:chOff x="0" y="0"/>
            <a:chExt cx="4129503" cy="2805642"/>
          </a:xfrm>
        </p:grpSpPr>
        <p:sp>
          <p:nvSpPr>
            <p:cNvPr id="16" name="TextBox 16"/>
            <p:cNvSpPr txBox="1"/>
            <p:nvPr/>
          </p:nvSpPr>
          <p:spPr>
            <a:xfrm>
              <a:off x="0" y="1053042"/>
              <a:ext cx="4129503" cy="1752600"/>
            </a:xfrm>
            <a:prstGeom prst="rect">
              <a:avLst/>
            </a:prstGeom>
          </p:spPr>
          <p:txBody>
            <a:bodyPr lIns="0" tIns="0" rIns="0" bIns="0" rtlCol="0" anchor="t">
              <a:spAutoFit/>
            </a:bodyPr>
            <a:lstStyle/>
            <a:p>
              <a:pPr marL="322231" lvl="1" indent="-161115" algn="l">
                <a:lnSpc>
                  <a:spcPts val="1790"/>
                </a:lnSpc>
                <a:buFont typeface="Arial"/>
                <a:buChar char="•"/>
              </a:pPr>
              <a:r>
                <a:rPr lang="en-US" sz="1492">
                  <a:solidFill>
                    <a:srgbClr val="FFFFFF"/>
                  </a:solidFill>
                  <a:latin typeface="HK Grotesk"/>
                  <a:ea typeface="HK Grotesk"/>
                  <a:cs typeface="HK Grotesk"/>
                  <a:sym typeface="HK Grotesk"/>
                </a:rPr>
                <a:t>F</a:t>
              </a:r>
              <a:r>
                <a:rPr lang="en-US" sz="1492" u="none" strike="noStrike">
                  <a:solidFill>
                    <a:srgbClr val="FFFFFF"/>
                  </a:solidFill>
                  <a:latin typeface="HK Grotesk"/>
                  <a:ea typeface="HK Grotesk"/>
                  <a:cs typeface="HK Grotesk"/>
                  <a:sym typeface="HK Grotesk"/>
                </a:rPr>
                <a:t>requently shares multimedia content (stories, reels)</a:t>
              </a:r>
            </a:p>
            <a:p>
              <a:pPr marL="322231" lvl="1" indent="-161115" algn="l">
                <a:lnSpc>
                  <a:spcPts val="1790"/>
                </a:lnSpc>
                <a:buFont typeface="Arial"/>
                <a:buChar char="•"/>
              </a:pPr>
              <a:r>
                <a:rPr lang="en-US" sz="1492" u="none" strike="noStrike">
                  <a:solidFill>
                    <a:srgbClr val="FFFFFF"/>
                  </a:solidFill>
                  <a:latin typeface="HK Grotesk"/>
                  <a:ea typeface="HK Grotesk"/>
                  <a:cs typeface="HK Grotesk"/>
                  <a:sym typeface="HK Grotesk"/>
                </a:rPr>
                <a:t>Interacts via polls, Q&amp;A, and reacts to friends' posts</a:t>
              </a:r>
            </a:p>
            <a:p>
              <a:pPr marL="322231" lvl="1" indent="-161115" algn="l">
                <a:lnSpc>
                  <a:spcPts val="1790"/>
                </a:lnSpc>
                <a:buFont typeface="Arial"/>
                <a:buChar char="•"/>
              </a:pPr>
              <a:r>
                <a:rPr lang="en-US" sz="1492" u="none" strike="noStrike">
                  <a:solidFill>
                    <a:srgbClr val="FFFFFF"/>
                  </a:solidFill>
                  <a:latin typeface="HK Grotesk"/>
                  <a:ea typeface="HK Grotesk"/>
                  <a:cs typeface="HK Grotesk"/>
                  <a:sym typeface="HK Grotesk"/>
                </a:rPr>
                <a:t>Follows and interacts with local creators</a:t>
              </a:r>
            </a:p>
          </p:txBody>
        </p:sp>
        <p:sp>
          <p:nvSpPr>
            <p:cNvPr id="17" name="TextBox 17"/>
            <p:cNvSpPr txBox="1"/>
            <p:nvPr/>
          </p:nvSpPr>
          <p:spPr>
            <a:xfrm>
              <a:off x="0" y="0"/>
              <a:ext cx="4129503" cy="419100"/>
            </a:xfrm>
            <a:prstGeom prst="rect">
              <a:avLst/>
            </a:prstGeom>
          </p:spPr>
          <p:txBody>
            <a:bodyPr lIns="0" tIns="0" rIns="0" bIns="0" rtlCol="0" anchor="t">
              <a:spAutoFit/>
            </a:bodyPr>
            <a:lstStyle/>
            <a:p>
              <a:pPr marL="0" lvl="0" indent="0" algn="l">
                <a:lnSpc>
                  <a:spcPts val="2486"/>
                </a:lnSpc>
              </a:pPr>
              <a:r>
                <a:rPr lang="en-US" sz="2072" b="1" u="none" strike="noStrike">
                  <a:solidFill>
                    <a:srgbClr val="FFFFFF"/>
                  </a:solidFill>
                  <a:latin typeface="HK Grotesk Semi-Bold"/>
                  <a:ea typeface="HK Grotesk Semi-Bold"/>
                  <a:cs typeface="HK Grotesk Semi-Bold"/>
                  <a:sym typeface="HK Grotesk Semi-Bold"/>
                </a:rPr>
                <a:t>Behaviors and Interactions</a:t>
              </a:r>
            </a:p>
          </p:txBody>
        </p:sp>
      </p:grpSp>
      <p:grpSp>
        <p:nvGrpSpPr>
          <p:cNvPr id="18" name="Group 18"/>
          <p:cNvGrpSpPr/>
          <p:nvPr/>
        </p:nvGrpSpPr>
        <p:grpSpPr>
          <a:xfrm>
            <a:off x="7595139" y="6934200"/>
            <a:ext cx="3097127" cy="2105025"/>
            <a:chOff x="0" y="0"/>
            <a:chExt cx="4129503" cy="2806700"/>
          </a:xfrm>
        </p:grpSpPr>
        <p:sp>
          <p:nvSpPr>
            <p:cNvPr id="19" name="TextBox 19"/>
            <p:cNvSpPr txBox="1"/>
            <p:nvPr/>
          </p:nvSpPr>
          <p:spPr>
            <a:xfrm>
              <a:off x="0" y="1054100"/>
              <a:ext cx="4129503" cy="1752600"/>
            </a:xfrm>
            <a:prstGeom prst="rect">
              <a:avLst/>
            </a:prstGeom>
          </p:spPr>
          <p:txBody>
            <a:bodyPr lIns="0" tIns="0" rIns="0" bIns="0" rtlCol="0" anchor="t">
              <a:spAutoFit/>
            </a:bodyPr>
            <a:lstStyle/>
            <a:p>
              <a:pPr marL="322231" lvl="1" indent="-161115" algn="l">
                <a:lnSpc>
                  <a:spcPts val="1790"/>
                </a:lnSpc>
                <a:buFont typeface="Arial"/>
                <a:buChar char="•"/>
              </a:pPr>
              <a:r>
                <a:rPr lang="en-US" sz="1492">
                  <a:solidFill>
                    <a:srgbClr val="FFFFFF"/>
                  </a:solidFill>
                  <a:latin typeface="HK Grotesk"/>
                  <a:ea typeface="HK Grotesk"/>
                  <a:cs typeface="HK Grotesk"/>
                  <a:sym typeface="HK Grotesk"/>
                </a:rPr>
                <a:t>Overwhelmed by sponsored posts/ads</a:t>
              </a:r>
            </a:p>
            <a:p>
              <a:pPr marL="322231" lvl="1" indent="-161115" algn="l">
                <a:lnSpc>
                  <a:spcPts val="1790"/>
                </a:lnSpc>
                <a:buFont typeface="Arial"/>
                <a:buChar char="•"/>
              </a:pPr>
              <a:r>
                <a:rPr lang="en-US" sz="1492" u="none" strike="noStrike">
                  <a:solidFill>
                    <a:srgbClr val="FFFFFF"/>
                  </a:solidFill>
                  <a:latin typeface="HK Grotesk"/>
                  <a:ea typeface="HK Grotesk"/>
                  <a:cs typeface="HK Grotesk"/>
                  <a:sym typeface="HK Grotesk"/>
                </a:rPr>
                <a:t> </a:t>
              </a:r>
              <a:r>
                <a:rPr lang="en-US" sz="1492">
                  <a:solidFill>
                    <a:srgbClr val="FFFFFF"/>
                  </a:solidFill>
                  <a:latin typeface="HK Grotesk"/>
                  <a:ea typeface="HK Grotesk"/>
                  <a:cs typeface="HK Grotesk"/>
                  <a:sym typeface="HK Grotesk"/>
                </a:rPr>
                <a:t>Algorithm hides content from close friends</a:t>
              </a:r>
            </a:p>
            <a:p>
              <a:pPr marL="322231" lvl="1" indent="-161115" algn="l">
                <a:lnSpc>
                  <a:spcPts val="1790"/>
                </a:lnSpc>
                <a:buFont typeface="Arial"/>
                <a:buChar char="•"/>
              </a:pPr>
              <a:r>
                <a:rPr lang="en-US" sz="1492">
                  <a:solidFill>
                    <a:srgbClr val="FFFFFF"/>
                  </a:solidFill>
                  <a:latin typeface="HK Grotesk"/>
                  <a:ea typeface="HK Grotesk"/>
                  <a:cs typeface="HK Grotesk"/>
                  <a:sym typeface="HK Grotesk"/>
                </a:rPr>
                <a:t>Limited editing tools on mobile</a:t>
              </a:r>
            </a:p>
            <a:p>
              <a:pPr algn="l">
                <a:lnSpc>
                  <a:spcPts val="1790"/>
                </a:lnSpc>
              </a:pPr>
              <a:endParaRPr lang="en-US" sz="1492">
                <a:solidFill>
                  <a:srgbClr val="FFFFFF"/>
                </a:solidFill>
                <a:latin typeface="HK Grotesk"/>
                <a:ea typeface="HK Grotesk"/>
                <a:cs typeface="HK Grotesk"/>
                <a:sym typeface="HK Grotesk"/>
              </a:endParaRPr>
            </a:p>
          </p:txBody>
        </p:sp>
        <p:sp>
          <p:nvSpPr>
            <p:cNvPr id="20" name="TextBox 20"/>
            <p:cNvSpPr txBox="1"/>
            <p:nvPr/>
          </p:nvSpPr>
          <p:spPr>
            <a:xfrm>
              <a:off x="0" y="0"/>
              <a:ext cx="4129503" cy="419100"/>
            </a:xfrm>
            <a:prstGeom prst="rect">
              <a:avLst/>
            </a:prstGeom>
          </p:spPr>
          <p:txBody>
            <a:bodyPr lIns="0" tIns="0" rIns="0" bIns="0" rtlCol="0" anchor="t">
              <a:spAutoFit/>
            </a:bodyPr>
            <a:lstStyle/>
            <a:p>
              <a:pPr marL="0" lvl="0" indent="0" algn="l">
                <a:lnSpc>
                  <a:spcPts val="2486"/>
                </a:lnSpc>
              </a:pPr>
              <a:r>
                <a:rPr lang="en-US" sz="2072" b="1" u="none" strike="noStrike">
                  <a:solidFill>
                    <a:srgbClr val="FFFFFF"/>
                  </a:solidFill>
                  <a:latin typeface="HK Grotesk Semi-Bold"/>
                  <a:ea typeface="HK Grotesk Semi-Bold"/>
                  <a:cs typeface="HK Grotesk Semi-Bold"/>
                  <a:sym typeface="HK Grotesk Semi-Bold"/>
                </a:rPr>
                <a:t>Challenges Faced</a:t>
              </a:r>
            </a:p>
          </p:txBody>
        </p:sp>
      </p:grpSp>
      <p:grpSp>
        <p:nvGrpSpPr>
          <p:cNvPr id="21" name="Group 21"/>
          <p:cNvGrpSpPr/>
          <p:nvPr/>
        </p:nvGrpSpPr>
        <p:grpSpPr>
          <a:xfrm>
            <a:off x="11059333" y="6934994"/>
            <a:ext cx="3097127" cy="2104231"/>
            <a:chOff x="0" y="0"/>
            <a:chExt cx="4129503" cy="2805642"/>
          </a:xfrm>
        </p:grpSpPr>
        <p:sp>
          <p:nvSpPr>
            <p:cNvPr id="22" name="TextBox 22"/>
            <p:cNvSpPr txBox="1"/>
            <p:nvPr/>
          </p:nvSpPr>
          <p:spPr>
            <a:xfrm>
              <a:off x="0" y="1053042"/>
              <a:ext cx="4129503" cy="1752600"/>
            </a:xfrm>
            <a:prstGeom prst="rect">
              <a:avLst/>
            </a:prstGeom>
          </p:spPr>
          <p:txBody>
            <a:bodyPr lIns="0" tIns="0" rIns="0" bIns="0" rtlCol="0" anchor="t">
              <a:spAutoFit/>
            </a:bodyPr>
            <a:lstStyle/>
            <a:p>
              <a:pPr marL="322231" lvl="1" indent="-161115" algn="l">
                <a:lnSpc>
                  <a:spcPts val="1790"/>
                </a:lnSpc>
                <a:buFont typeface="Arial"/>
                <a:buChar char="•"/>
              </a:pPr>
              <a:r>
                <a:rPr lang="en-US" sz="1492" u="none" strike="noStrike">
                  <a:solidFill>
                    <a:srgbClr val="FFFFFF"/>
                  </a:solidFill>
                  <a:latin typeface="HK Grotesk"/>
                  <a:ea typeface="HK Grotesk"/>
                  <a:cs typeface="HK Grotesk"/>
                  <a:sym typeface="HK Grotesk"/>
                </a:rPr>
                <a:t>Uses the app during short breaks, after class, and at night</a:t>
              </a:r>
            </a:p>
            <a:p>
              <a:pPr marL="322231" lvl="1" indent="-161115" algn="l">
                <a:lnSpc>
                  <a:spcPts val="1790"/>
                </a:lnSpc>
                <a:buFont typeface="Arial"/>
                <a:buChar char="•"/>
              </a:pPr>
              <a:r>
                <a:rPr lang="en-US" sz="1492" u="none" strike="noStrike">
                  <a:solidFill>
                    <a:srgbClr val="FFFFFF"/>
                  </a:solidFill>
                  <a:latin typeface="HK Grotesk"/>
                  <a:ea typeface="HK Grotesk"/>
                  <a:cs typeface="HK Grotesk"/>
                  <a:sym typeface="HK Grotesk"/>
                </a:rPr>
                <a:t>Active both as a content creator and consumer</a:t>
              </a:r>
            </a:p>
            <a:p>
              <a:pPr marL="322231" lvl="1" indent="-161115" algn="l">
                <a:lnSpc>
                  <a:spcPts val="1790"/>
                </a:lnSpc>
                <a:buFont typeface="Arial"/>
                <a:buChar char="•"/>
              </a:pPr>
              <a:r>
                <a:rPr lang="en-US" sz="1492" u="none" strike="noStrike">
                  <a:solidFill>
                    <a:srgbClr val="FFFFFF"/>
                  </a:solidFill>
                  <a:latin typeface="HK Grotesk"/>
                  <a:ea typeface="HK Grotesk"/>
                  <a:cs typeface="HK Grotesk"/>
                  <a:sym typeface="HK Grotesk"/>
                </a:rPr>
                <a:t>Mobile-first; rarely uses browser version</a:t>
              </a:r>
            </a:p>
          </p:txBody>
        </p:sp>
        <p:sp>
          <p:nvSpPr>
            <p:cNvPr id="23" name="TextBox 23"/>
            <p:cNvSpPr txBox="1"/>
            <p:nvPr/>
          </p:nvSpPr>
          <p:spPr>
            <a:xfrm>
              <a:off x="0" y="0"/>
              <a:ext cx="4129503" cy="419100"/>
            </a:xfrm>
            <a:prstGeom prst="rect">
              <a:avLst/>
            </a:prstGeom>
          </p:spPr>
          <p:txBody>
            <a:bodyPr lIns="0" tIns="0" rIns="0" bIns="0" rtlCol="0" anchor="t">
              <a:spAutoFit/>
            </a:bodyPr>
            <a:lstStyle/>
            <a:p>
              <a:pPr marL="0" lvl="0" indent="0" algn="l">
                <a:lnSpc>
                  <a:spcPts val="2486"/>
                </a:lnSpc>
              </a:pPr>
              <a:r>
                <a:rPr lang="en-US" sz="2072" b="1" u="none" strike="noStrike">
                  <a:solidFill>
                    <a:srgbClr val="FFFFFF"/>
                  </a:solidFill>
                  <a:latin typeface="HK Grotesk Semi-Bold"/>
                  <a:ea typeface="HK Grotesk Semi-Bold"/>
                  <a:cs typeface="HK Grotesk Semi-Bold"/>
                  <a:sym typeface="HK Grotesk Semi-Bold"/>
                </a:rPr>
                <a:t>Usage Context</a:t>
              </a:r>
            </a:p>
          </p:txBody>
        </p:sp>
      </p:grpSp>
      <p:grpSp>
        <p:nvGrpSpPr>
          <p:cNvPr id="24" name="Group 24"/>
          <p:cNvGrpSpPr/>
          <p:nvPr/>
        </p:nvGrpSpPr>
        <p:grpSpPr>
          <a:xfrm>
            <a:off x="14523527" y="6934200"/>
            <a:ext cx="3097127" cy="2105025"/>
            <a:chOff x="0" y="0"/>
            <a:chExt cx="4129503" cy="2806700"/>
          </a:xfrm>
        </p:grpSpPr>
        <p:sp>
          <p:nvSpPr>
            <p:cNvPr id="25" name="TextBox 25"/>
            <p:cNvSpPr txBox="1"/>
            <p:nvPr/>
          </p:nvSpPr>
          <p:spPr>
            <a:xfrm>
              <a:off x="0" y="1054100"/>
              <a:ext cx="4129503" cy="1752600"/>
            </a:xfrm>
            <a:prstGeom prst="rect">
              <a:avLst/>
            </a:prstGeom>
          </p:spPr>
          <p:txBody>
            <a:bodyPr lIns="0" tIns="0" rIns="0" bIns="0" rtlCol="0" anchor="t">
              <a:spAutoFit/>
            </a:bodyPr>
            <a:lstStyle/>
            <a:p>
              <a:pPr marL="0" lvl="0" indent="0" algn="l">
                <a:lnSpc>
                  <a:spcPts val="1790"/>
                </a:lnSpc>
              </a:pPr>
              <a:r>
                <a:rPr lang="en-US" sz="1492" u="none" strike="noStrike">
                  <a:solidFill>
                    <a:srgbClr val="FFFFFF"/>
                  </a:solidFill>
                  <a:latin typeface="HK Grotesk"/>
                  <a:ea typeface="HK Grotesk"/>
                  <a:cs typeface="HK Grotesk"/>
                  <a:sym typeface="HK Grotesk"/>
                </a:rPr>
                <a:t>Through her lively posts and stories, Mia aims to </a:t>
              </a:r>
              <a:r>
                <a:rPr lang="en-US" sz="1492" b="1" u="none" strike="noStrike">
                  <a:solidFill>
                    <a:srgbClr val="FFFFFF"/>
                  </a:solidFill>
                  <a:latin typeface="HK Grotesk Bold"/>
                  <a:ea typeface="HK Grotesk Bold"/>
                  <a:cs typeface="HK Grotesk Bold"/>
                  <a:sym typeface="HK Grotesk Bold"/>
                </a:rPr>
                <a:t>connect with like-minded individuals</a:t>
              </a:r>
              <a:r>
                <a:rPr lang="en-US" sz="1492" u="none" strike="noStrike">
                  <a:solidFill>
                    <a:srgbClr val="FFFFFF"/>
                  </a:solidFill>
                  <a:latin typeface="HK Grotesk"/>
                  <a:ea typeface="HK Grotesk"/>
                  <a:cs typeface="HK Grotesk"/>
                  <a:sym typeface="HK Grotesk"/>
                </a:rPr>
                <a:t>, fostering a sense of community and shared experiences within her online network.</a:t>
              </a:r>
            </a:p>
          </p:txBody>
        </p:sp>
        <p:sp>
          <p:nvSpPr>
            <p:cNvPr id="26" name="TextBox 26"/>
            <p:cNvSpPr txBox="1"/>
            <p:nvPr/>
          </p:nvSpPr>
          <p:spPr>
            <a:xfrm>
              <a:off x="0" y="0"/>
              <a:ext cx="4129503" cy="419100"/>
            </a:xfrm>
            <a:prstGeom prst="rect">
              <a:avLst/>
            </a:prstGeom>
          </p:spPr>
          <p:txBody>
            <a:bodyPr lIns="0" tIns="0" rIns="0" bIns="0" rtlCol="0" anchor="t">
              <a:spAutoFit/>
            </a:bodyPr>
            <a:lstStyle/>
            <a:p>
              <a:pPr marL="0" lvl="0" indent="0" algn="l">
                <a:lnSpc>
                  <a:spcPts val="2486"/>
                </a:lnSpc>
              </a:pPr>
              <a:r>
                <a:rPr lang="en-US" sz="2072" b="1" u="none" strike="noStrike">
                  <a:solidFill>
                    <a:srgbClr val="FFFFFF"/>
                  </a:solidFill>
                  <a:latin typeface="HK Grotesk Semi-Bold"/>
                  <a:ea typeface="HK Grotesk Semi-Bold"/>
                  <a:cs typeface="HK Grotesk Semi-Bold"/>
                  <a:sym typeface="HK Grotesk Semi-Bold"/>
                </a:rPr>
                <a:t>Building Community</a:t>
              </a:r>
            </a:p>
          </p:txBody>
        </p:sp>
      </p:grpSp>
      <p:sp>
        <p:nvSpPr>
          <p:cNvPr id="27" name="AutoShape 27"/>
          <p:cNvSpPr/>
          <p:nvPr/>
        </p:nvSpPr>
        <p:spPr>
          <a:xfrm>
            <a:off x="0" y="666750"/>
            <a:ext cx="18288000" cy="0"/>
          </a:xfrm>
          <a:prstGeom prst="line">
            <a:avLst/>
          </a:prstGeom>
          <a:ln w="19050" cap="flat">
            <a:solidFill>
              <a:srgbClr val="FCB045"/>
            </a:solidFill>
            <a:prstDash val="solid"/>
            <a:headEnd type="none" w="sm" len="sm"/>
            <a:tailEnd type="none" w="sm" len="sm"/>
          </a:ln>
        </p:spPr>
      </p:sp>
      <p:sp>
        <p:nvSpPr>
          <p:cNvPr id="28" name="AutoShape 28"/>
          <p:cNvSpPr/>
          <p:nvPr/>
        </p:nvSpPr>
        <p:spPr>
          <a:xfrm>
            <a:off x="0" y="9620250"/>
            <a:ext cx="18288000" cy="0"/>
          </a:xfrm>
          <a:prstGeom prst="line">
            <a:avLst/>
          </a:prstGeom>
          <a:ln w="19050" cap="flat">
            <a:solidFill>
              <a:srgbClr val="FCB045"/>
            </a:solidFill>
            <a:prstDash val="solid"/>
            <a:headEnd type="none" w="sm" len="sm"/>
            <a:tailEnd type="none" w="sm" len="sm"/>
          </a:ln>
        </p:spPr>
      </p:sp>
      <p:sp>
        <p:nvSpPr>
          <p:cNvPr id="29" name="TextBox 29"/>
          <p:cNvSpPr txBox="1"/>
          <p:nvPr/>
        </p:nvSpPr>
        <p:spPr>
          <a:xfrm>
            <a:off x="667345" y="1175385"/>
            <a:ext cx="16953905" cy="1282065"/>
          </a:xfrm>
          <a:prstGeom prst="rect">
            <a:avLst/>
          </a:prstGeom>
        </p:spPr>
        <p:txBody>
          <a:bodyPr lIns="0" tIns="0" rIns="0" bIns="0" rtlCol="0" anchor="t">
            <a:spAutoFit/>
          </a:bodyPr>
          <a:lstStyle/>
          <a:p>
            <a:pPr marL="0" lvl="0" indent="0" algn="l">
              <a:lnSpc>
                <a:spcPts val="9600"/>
              </a:lnSpc>
            </a:pPr>
            <a:r>
              <a:rPr lang="en-US" sz="9600" spc="-192">
                <a:solidFill>
                  <a:srgbClr val="FFFFFF"/>
                </a:solidFill>
                <a:latin typeface="Noto Serif Display ExtraCondensed Light"/>
                <a:ea typeface="Noto Serif Display ExtraCondensed Light"/>
                <a:cs typeface="Noto Serif Display ExtraCondensed Light"/>
                <a:sym typeface="Noto Serif Display ExtraCondensed Light"/>
              </a:rPr>
              <a:t>Mia Rodriguez: The Social Storyteller</a:t>
            </a:r>
          </a:p>
        </p:txBody>
      </p:sp>
      <p:sp>
        <p:nvSpPr>
          <p:cNvPr id="30" name="TextBox 30"/>
          <p:cNvSpPr txBox="1"/>
          <p:nvPr/>
        </p:nvSpPr>
        <p:spPr>
          <a:xfrm>
            <a:off x="666750" y="2539696"/>
            <a:ext cx="15404746" cy="1018509"/>
          </a:xfrm>
          <a:prstGeom prst="rect">
            <a:avLst/>
          </a:prstGeom>
        </p:spPr>
        <p:txBody>
          <a:bodyPr lIns="0" tIns="0" rIns="0" bIns="0" rtlCol="0" anchor="t">
            <a:spAutoFit/>
          </a:bodyPr>
          <a:lstStyle/>
          <a:p>
            <a:pPr marL="0" lvl="0" indent="0" algn="l">
              <a:lnSpc>
                <a:spcPts val="2685"/>
              </a:lnSpc>
            </a:pPr>
            <a:r>
              <a:rPr lang="en-US" sz="2685" b="1" spc="-53">
                <a:solidFill>
                  <a:srgbClr val="FFFFFF"/>
                </a:solidFill>
                <a:latin typeface="Noto Serif Display ExtraCondensed Bold"/>
                <a:ea typeface="Noto Serif Display ExtraCondensed Bold"/>
                <a:cs typeface="Noto Serif Display ExtraCondensed Bold"/>
                <a:sym typeface="Noto Serif Display ExtraCondensed Bold"/>
              </a:rPr>
              <a:t>Mia Rodriguez, 22, college student (Communications major), lives in Austin, TX. Loves digital storytelling, campus events, and photography. Shares snippets of daily life, travels, and food adventures with friends and a growing audience.</a:t>
            </a:r>
          </a:p>
          <a:p>
            <a:pPr marL="0" lvl="0" indent="0" algn="l">
              <a:lnSpc>
                <a:spcPts val="74"/>
              </a:lnSpc>
            </a:pPr>
            <a:endParaRPr lang="en-US" sz="2685" b="1" spc="-53">
              <a:solidFill>
                <a:srgbClr val="FFFFFF"/>
              </a:solidFill>
              <a:latin typeface="Noto Serif Display ExtraCondensed Bold"/>
              <a:ea typeface="Noto Serif Display ExtraCondensed Bold"/>
              <a:cs typeface="Noto Serif Display ExtraCondensed Bold"/>
              <a:sym typeface="Noto Serif Display ExtraCondensed Bold"/>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666750" y="4248150"/>
            <a:ext cx="3097127" cy="2228850"/>
            <a:chOff x="0" y="0"/>
            <a:chExt cx="479826" cy="345307"/>
          </a:xfrm>
        </p:grpSpPr>
        <p:sp>
          <p:nvSpPr>
            <p:cNvPr id="3" name="Freeform 3"/>
            <p:cNvSpPr/>
            <p:nvPr/>
          </p:nvSpPr>
          <p:spPr>
            <a:xfrm>
              <a:off x="0" y="0"/>
              <a:ext cx="479826" cy="345307"/>
            </a:xfrm>
            <a:custGeom>
              <a:avLst/>
              <a:gdLst/>
              <a:ahLst/>
              <a:cxnLst/>
              <a:rect l="l" t="t" r="r" b="b"/>
              <a:pathLst>
                <a:path w="479826" h="345307">
                  <a:moveTo>
                    <a:pt x="0" y="0"/>
                  </a:moveTo>
                  <a:lnTo>
                    <a:pt x="479826" y="0"/>
                  </a:lnTo>
                  <a:lnTo>
                    <a:pt x="479826" y="345307"/>
                  </a:lnTo>
                  <a:lnTo>
                    <a:pt x="0" y="345307"/>
                  </a:lnTo>
                  <a:close/>
                </a:path>
              </a:pathLst>
            </a:custGeom>
            <a:blipFill>
              <a:blip r:embed="rId2"/>
              <a:stretch>
                <a:fillRect l="-413" r="-413"/>
              </a:stretch>
            </a:blipFill>
          </p:spPr>
        </p:sp>
      </p:grpSp>
      <p:grpSp>
        <p:nvGrpSpPr>
          <p:cNvPr id="4" name="Group 4"/>
          <p:cNvGrpSpPr/>
          <p:nvPr/>
        </p:nvGrpSpPr>
        <p:grpSpPr>
          <a:xfrm>
            <a:off x="4130944" y="4248150"/>
            <a:ext cx="3097127" cy="2228850"/>
            <a:chOff x="0" y="0"/>
            <a:chExt cx="479826" cy="345307"/>
          </a:xfrm>
        </p:grpSpPr>
        <p:sp>
          <p:nvSpPr>
            <p:cNvPr id="5" name="Freeform 5"/>
            <p:cNvSpPr/>
            <p:nvPr/>
          </p:nvSpPr>
          <p:spPr>
            <a:xfrm>
              <a:off x="0" y="0"/>
              <a:ext cx="479826" cy="345307"/>
            </a:xfrm>
            <a:custGeom>
              <a:avLst/>
              <a:gdLst/>
              <a:ahLst/>
              <a:cxnLst/>
              <a:rect l="l" t="t" r="r" b="b"/>
              <a:pathLst>
                <a:path w="479826" h="345307">
                  <a:moveTo>
                    <a:pt x="0" y="0"/>
                  </a:moveTo>
                  <a:lnTo>
                    <a:pt x="479826" y="0"/>
                  </a:lnTo>
                  <a:lnTo>
                    <a:pt x="479826" y="345307"/>
                  </a:lnTo>
                  <a:lnTo>
                    <a:pt x="0" y="345307"/>
                  </a:lnTo>
                  <a:close/>
                </a:path>
              </a:pathLst>
            </a:custGeom>
            <a:blipFill>
              <a:blip r:embed="rId3"/>
              <a:stretch>
                <a:fillRect l="-413" r="-413"/>
              </a:stretch>
            </a:blipFill>
          </p:spPr>
        </p:sp>
      </p:grpSp>
      <p:grpSp>
        <p:nvGrpSpPr>
          <p:cNvPr id="6" name="Group 6"/>
          <p:cNvGrpSpPr/>
          <p:nvPr/>
        </p:nvGrpSpPr>
        <p:grpSpPr>
          <a:xfrm>
            <a:off x="7595139" y="4248150"/>
            <a:ext cx="3097127" cy="2228850"/>
            <a:chOff x="0" y="0"/>
            <a:chExt cx="479826" cy="345307"/>
          </a:xfrm>
        </p:grpSpPr>
        <p:sp>
          <p:nvSpPr>
            <p:cNvPr id="7" name="Freeform 7"/>
            <p:cNvSpPr/>
            <p:nvPr/>
          </p:nvSpPr>
          <p:spPr>
            <a:xfrm>
              <a:off x="0" y="0"/>
              <a:ext cx="479826" cy="345307"/>
            </a:xfrm>
            <a:custGeom>
              <a:avLst/>
              <a:gdLst/>
              <a:ahLst/>
              <a:cxnLst/>
              <a:rect l="l" t="t" r="r" b="b"/>
              <a:pathLst>
                <a:path w="479826" h="345307">
                  <a:moveTo>
                    <a:pt x="0" y="0"/>
                  </a:moveTo>
                  <a:lnTo>
                    <a:pt x="479826" y="0"/>
                  </a:lnTo>
                  <a:lnTo>
                    <a:pt x="479826" y="345307"/>
                  </a:lnTo>
                  <a:lnTo>
                    <a:pt x="0" y="345307"/>
                  </a:lnTo>
                  <a:close/>
                </a:path>
              </a:pathLst>
            </a:custGeom>
            <a:blipFill>
              <a:blip r:embed="rId4"/>
              <a:stretch>
                <a:fillRect l="-413" r="-413"/>
              </a:stretch>
            </a:blipFill>
          </p:spPr>
        </p:sp>
      </p:grpSp>
      <p:grpSp>
        <p:nvGrpSpPr>
          <p:cNvPr id="8" name="Group 8"/>
          <p:cNvGrpSpPr/>
          <p:nvPr/>
        </p:nvGrpSpPr>
        <p:grpSpPr>
          <a:xfrm>
            <a:off x="11059333" y="4248150"/>
            <a:ext cx="3097127" cy="2228850"/>
            <a:chOff x="0" y="0"/>
            <a:chExt cx="479826" cy="345307"/>
          </a:xfrm>
        </p:grpSpPr>
        <p:sp>
          <p:nvSpPr>
            <p:cNvPr id="9" name="Freeform 9"/>
            <p:cNvSpPr/>
            <p:nvPr/>
          </p:nvSpPr>
          <p:spPr>
            <a:xfrm>
              <a:off x="0" y="0"/>
              <a:ext cx="479826" cy="345307"/>
            </a:xfrm>
            <a:custGeom>
              <a:avLst/>
              <a:gdLst/>
              <a:ahLst/>
              <a:cxnLst/>
              <a:rect l="l" t="t" r="r" b="b"/>
              <a:pathLst>
                <a:path w="479826" h="345307">
                  <a:moveTo>
                    <a:pt x="0" y="0"/>
                  </a:moveTo>
                  <a:lnTo>
                    <a:pt x="479826" y="0"/>
                  </a:lnTo>
                  <a:lnTo>
                    <a:pt x="479826" y="345307"/>
                  </a:lnTo>
                  <a:lnTo>
                    <a:pt x="0" y="345307"/>
                  </a:lnTo>
                  <a:close/>
                </a:path>
              </a:pathLst>
            </a:custGeom>
            <a:blipFill>
              <a:blip r:embed="rId5"/>
              <a:stretch>
                <a:fillRect l="-413" r="-413"/>
              </a:stretch>
            </a:blipFill>
          </p:spPr>
        </p:sp>
      </p:grpSp>
      <p:grpSp>
        <p:nvGrpSpPr>
          <p:cNvPr id="10" name="Group 10"/>
          <p:cNvGrpSpPr/>
          <p:nvPr/>
        </p:nvGrpSpPr>
        <p:grpSpPr>
          <a:xfrm>
            <a:off x="14523527" y="4248150"/>
            <a:ext cx="3097127" cy="2228850"/>
            <a:chOff x="0" y="0"/>
            <a:chExt cx="479826" cy="345307"/>
          </a:xfrm>
        </p:grpSpPr>
        <p:sp>
          <p:nvSpPr>
            <p:cNvPr id="11" name="Freeform 11"/>
            <p:cNvSpPr/>
            <p:nvPr/>
          </p:nvSpPr>
          <p:spPr>
            <a:xfrm>
              <a:off x="0" y="0"/>
              <a:ext cx="479826" cy="345307"/>
            </a:xfrm>
            <a:custGeom>
              <a:avLst/>
              <a:gdLst/>
              <a:ahLst/>
              <a:cxnLst/>
              <a:rect l="l" t="t" r="r" b="b"/>
              <a:pathLst>
                <a:path w="479826" h="345307">
                  <a:moveTo>
                    <a:pt x="0" y="0"/>
                  </a:moveTo>
                  <a:lnTo>
                    <a:pt x="479826" y="0"/>
                  </a:lnTo>
                  <a:lnTo>
                    <a:pt x="479826" y="345307"/>
                  </a:lnTo>
                  <a:lnTo>
                    <a:pt x="0" y="345307"/>
                  </a:lnTo>
                  <a:close/>
                </a:path>
              </a:pathLst>
            </a:custGeom>
            <a:blipFill>
              <a:blip r:embed="rId6"/>
              <a:stretch>
                <a:fillRect l="-413" r="-413"/>
              </a:stretch>
            </a:blipFill>
          </p:spPr>
        </p:sp>
      </p:grpSp>
      <p:grpSp>
        <p:nvGrpSpPr>
          <p:cNvPr id="12" name="Group 12"/>
          <p:cNvGrpSpPr/>
          <p:nvPr/>
        </p:nvGrpSpPr>
        <p:grpSpPr>
          <a:xfrm>
            <a:off x="666750" y="6934994"/>
            <a:ext cx="3097127" cy="2304256"/>
            <a:chOff x="0" y="0"/>
            <a:chExt cx="4129503" cy="3072342"/>
          </a:xfrm>
        </p:grpSpPr>
        <p:sp>
          <p:nvSpPr>
            <p:cNvPr id="13" name="TextBox 13"/>
            <p:cNvSpPr txBox="1"/>
            <p:nvPr/>
          </p:nvSpPr>
          <p:spPr>
            <a:xfrm>
              <a:off x="0" y="1234017"/>
              <a:ext cx="4129503" cy="1838325"/>
            </a:xfrm>
            <a:prstGeom prst="rect">
              <a:avLst/>
            </a:prstGeom>
          </p:spPr>
          <p:txBody>
            <a:bodyPr lIns="0" tIns="0" rIns="0" bIns="0" rtlCol="0" anchor="t">
              <a:spAutoFit/>
            </a:bodyPr>
            <a:lstStyle/>
            <a:p>
              <a:pPr marL="325834" lvl="1" indent="-162917" algn="l">
                <a:lnSpc>
                  <a:spcPts val="1811"/>
                </a:lnSpc>
                <a:buFont typeface="Arial"/>
                <a:buChar char="•"/>
              </a:pPr>
              <a:r>
                <a:rPr lang="en-US" sz="1509">
                  <a:solidFill>
                    <a:srgbClr val="FFFFFF"/>
                  </a:solidFill>
                  <a:latin typeface="HK Grotesk"/>
                  <a:ea typeface="HK Grotesk"/>
                  <a:cs typeface="HK Grotesk"/>
                  <a:sym typeface="HK Grotesk"/>
                </a:rPr>
                <a:t>Attract new customers with product posts and reels</a:t>
              </a:r>
            </a:p>
            <a:p>
              <a:pPr marL="325834" lvl="1" indent="-162917" algn="l">
                <a:lnSpc>
                  <a:spcPts val="1811"/>
                </a:lnSpc>
                <a:buFont typeface="Arial"/>
                <a:buChar char="•"/>
              </a:pPr>
              <a:r>
                <a:rPr lang="en-US" sz="1509">
                  <a:solidFill>
                    <a:srgbClr val="FFFFFF"/>
                  </a:solidFill>
                  <a:latin typeface="HK Grotesk"/>
                  <a:ea typeface="HK Grotesk"/>
                  <a:cs typeface="HK Grotesk"/>
                  <a:sym typeface="HK Grotesk"/>
                </a:rPr>
                <a:t>Efficiently manage brand messaging and promotions</a:t>
              </a:r>
            </a:p>
            <a:p>
              <a:pPr marL="325834" lvl="1" indent="-162917" algn="l">
                <a:lnSpc>
                  <a:spcPts val="1811"/>
                </a:lnSpc>
                <a:buFont typeface="Arial"/>
                <a:buChar char="•"/>
              </a:pPr>
              <a:r>
                <a:rPr lang="en-US" sz="1509">
                  <a:solidFill>
                    <a:srgbClr val="FFFFFF"/>
                  </a:solidFill>
                  <a:latin typeface="HK Grotesk"/>
                  <a:ea typeface="HK Grotesk"/>
                  <a:cs typeface="HK Grotesk"/>
                  <a:sym typeface="HK Grotesk"/>
                </a:rPr>
                <a:t> Receive feedback and interact with buyers directly</a:t>
              </a:r>
            </a:p>
          </p:txBody>
        </p:sp>
        <p:sp>
          <p:nvSpPr>
            <p:cNvPr id="14" name="TextBox 14"/>
            <p:cNvSpPr txBox="1"/>
            <p:nvPr/>
          </p:nvSpPr>
          <p:spPr>
            <a:xfrm>
              <a:off x="0" y="-9525"/>
              <a:ext cx="4129503" cy="619125"/>
            </a:xfrm>
            <a:prstGeom prst="rect">
              <a:avLst/>
            </a:prstGeom>
          </p:spPr>
          <p:txBody>
            <a:bodyPr lIns="0" tIns="0" rIns="0" bIns="0" rtlCol="0" anchor="t">
              <a:spAutoFit/>
            </a:bodyPr>
            <a:lstStyle/>
            <a:p>
              <a:pPr marL="0" lvl="0" indent="0" algn="l">
                <a:lnSpc>
                  <a:spcPts val="1855"/>
                </a:lnSpc>
              </a:pPr>
              <a:r>
                <a:rPr lang="en-US" sz="1546" b="1" u="none" strike="noStrike">
                  <a:solidFill>
                    <a:srgbClr val="FFFFFF"/>
                  </a:solidFill>
                  <a:latin typeface="HK Grotesk Semi-Bold"/>
                  <a:ea typeface="HK Grotesk Semi-Bold"/>
                  <a:cs typeface="HK Grotesk Semi-Bold"/>
                  <a:sym typeface="HK Grotesk Semi-Bold"/>
                </a:rPr>
                <a:t>Engaging Customers through Instagram</a:t>
              </a:r>
            </a:p>
          </p:txBody>
        </p:sp>
      </p:grpSp>
      <p:grpSp>
        <p:nvGrpSpPr>
          <p:cNvPr id="15" name="Group 15"/>
          <p:cNvGrpSpPr/>
          <p:nvPr/>
        </p:nvGrpSpPr>
        <p:grpSpPr>
          <a:xfrm>
            <a:off x="4130944" y="7006034"/>
            <a:ext cx="3097127" cy="2075656"/>
            <a:chOff x="0" y="0"/>
            <a:chExt cx="4129503" cy="2767542"/>
          </a:xfrm>
        </p:grpSpPr>
        <p:sp>
          <p:nvSpPr>
            <p:cNvPr id="16" name="TextBox 16"/>
            <p:cNvSpPr txBox="1"/>
            <p:nvPr/>
          </p:nvSpPr>
          <p:spPr>
            <a:xfrm>
              <a:off x="0" y="929217"/>
              <a:ext cx="4129503" cy="1838325"/>
            </a:xfrm>
            <a:prstGeom prst="rect">
              <a:avLst/>
            </a:prstGeom>
          </p:spPr>
          <p:txBody>
            <a:bodyPr lIns="0" tIns="0" rIns="0" bIns="0" rtlCol="0" anchor="t">
              <a:spAutoFit/>
            </a:bodyPr>
            <a:lstStyle/>
            <a:p>
              <a:pPr marL="325834" lvl="1" indent="-162917" algn="l">
                <a:lnSpc>
                  <a:spcPts val="1811"/>
                </a:lnSpc>
                <a:buFont typeface="Arial"/>
                <a:buChar char="•"/>
              </a:pPr>
              <a:r>
                <a:rPr lang="en-US" sz="1509" u="none" strike="noStrike">
                  <a:solidFill>
                    <a:srgbClr val="FFFFFF"/>
                  </a:solidFill>
                  <a:latin typeface="HK Grotesk"/>
                  <a:ea typeface="HK Grotesk"/>
                  <a:cs typeface="HK Grotesk"/>
                  <a:sym typeface="HK Grotesk"/>
                </a:rPr>
                <a:t>Schedules regular posts and stories for new releases</a:t>
              </a:r>
            </a:p>
            <a:p>
              <a:pPr marL="325834" lvl="1" indent="-162917" algn="l">
                <a:lnSpc>
                  <a:spcPts val="1811"/>
                </a:lnSpc>
                <a:buFont typeface="Arial"/>
                <a:buChar char="•"/>
              </a:pPr>
              <a:r>
                <a:rPr lang="en-US" sz="1509" u="none" strike="noStrike">
                  <a:solidFill>
                    <a:srgbClr val="FFFFFF"/>
                  </a:solidFill>
                  <a:latin typeface="HK Grotesk"/>
                  <a:ea typeface="HK Grotesk"/>
                  <a:cs typeface="HK Grotesk"/>
                  <a:sym typeface="HK Grotesk"/>
                </a:rPr>
                <a:t>Uses Instagram analytics to track engagement</a:t>
              </a:r>
            </a:p>
            <a:p>
              <a:pPr marL="325834" lvl="1" indent="-162917" algn="l">
                <a:lnSpc>
                  <a:spcPts val="1811"/>
                </a:lnSpc>
                <a:buFont typeface="Arial"/>
                <a:buChar char="•"/>
              </a:pPr>
              <a:r>
                <a:rPr lang="en-US" sz="1509" u="none" strike="noStrike">
                  <a:solidFill>
                    <a:srgbClr val="FFFFFF"/>
                  </a:solidFill>
                  <a:latin typeface="HK Grotesk"/>
                  <a:ea typeface="HK Grotesk"/>
                  <a:cs typeface="HK Grotesk"/>
                  <a:sym typeface="HK Grotesk"/>
                </a:rPr>
                <a:t>Responds to direct messages and customer comments</a:t>
              </a:r>
            </a:p>
          </p:txBody>
        </p:sp>
        <p:sp>
          <p:nvSpPr>
            <p:cNvPr id="17" name="TextBox 17"/>
            <p:cNvSpPr txBox="1"/>
            <p:nvPr/>
          </p:nvSpPr>
          <p:spPr>
            <a:xfrm>
              <a:off x="0" y="-9525"/>
              <a:ext cx="4129503" cy="314325"/>
            </a:xfrm>
            <a:prstGeom prst="rect">
              <a:avLst/>
            </a:prstGeom>
          </p:spPr>
          <p:txBody>
            <a:bodyPr lIns="0" tIns="0" rIns="0" bIns="0" rtlCol="0" anchor="t">
              <a:spAutoFit/>
            </a:bodyPr>
            <a:lstStyle/>
            <a:p>
              <a:pPr marL="0" lvl="0" indent="0" algn="l">
                <a:lnSpc>
                  <a:spcPts val="1855"/>
                </a:lnSpc>
              </a:pPr>
              <a:r>
                <a:rPr lang="en-US" sz="1546" b="1" u="none" strike="noStrike">
                  <a:solidFill>
                    <a:srgbClr val="FFFFFF"/>
                  </a:solidFill>
                  <a:latin typeface="HK Grotesk Semi-Bold"/>
                  <a:ea typeface="HK Grotesk Semi-Bold"/>
                  <a:cs typeface="HK Grotesk Semi-Bold"/>
                  <a:sym typeface="HK Grotesk Semi-Bold"/>
                </a:rPr>
                <a:t>Efficient Management Practices</a:t>
              </a:r>
            </a:p>
          </p:txBody>
        </p:sp>
      </p:grpSp>
      <p:grpSp>
        <p:nvGrpSpPr>
          <p:cNvPr id="18" name="Group 18"/>
          <p:cNvGrpSpPr/>
          <p:nvPr/>
        </p:nvGrpSpPr>
        <p:grpSpPr>
          <a:xfrm>
            <a:off x="7595139" y="6934200"/>
            <a:ext cx="3097127" cy="2305050"/>
            <a:chOff x="0" y="0"/>
            <a:chExt cx="4129503" cy="3073400"/>
          </a:xfrm>
        </p:grpSpPr>
        <p:sp>
          <p:nvSpPr>
            <p:cNvPr id="19" name="TextBox 19"/>
            <p:cNvSpPr txBox="1"/>
            <p:nvPr/>
          </p:nvSpPr>
          <p:spPr>
            <a:xfrm>
              <a:off x="0" y="930275"/>
              <a:ext cx="4129503" cy="2143125"/>
            </a:xfrm>
            <a:prstGeom prst="rect">
              <a:avLst/>
            </a:prstGeom>
          </p:spPr>
          <p:txBody>
            <a:bodyPr lIns="0" tIns="0" rIns="0" bIns="0" rtlCol="0" anchor="t">
              <a:spAutoFit/>
            </a:bodyPr>
            <a:lstStyle/>
            <a:p>
              <a:pPr marL="325834" lvl="1" indent="-162917" algn="l">
                <a:lnSpc>
                  <a:spcPts val="1811"/>
                </a:lnSpc>
                <a:buFont typeface="Arial"/>
                <a:buChar char="•"/>
              </a:pPr>
              <a:r>
                <a:rPr lang="en-US" sz="1509">
                  <a:solidFill>
                    <a:srgbClr val="FFFFFF"/>
                  </a:solidFill>
                  <a:latin typeface="HK Grotesk"/>
                  <a:ea typeface="HK Grotesk"/>
                  <a:cs typeface="HK Grotesk"/>
                  <a:sym typeface="HK Grotesk"/>
                </a:rPr>
                <a:t>D</a:t>
              </a:r>
              <a:r>
                <a:rPr lang="en-US" sz="1509" u="none" strike="noStrike">
                  <a:solidFill>
                    <a:srgbClr val="FFFFFF"/>
                  </a:solidFill>
                  <a:latin typeface="HK Grotesk"/>
                  <a:ea typeface="HK Grotesk"/>
                  <a:cs typeface="HK Grotesk"/>
                  <a:sym typeface="HK Grotesk"/>
                </a:rPr>
                <a:t>ifficult to track campaign performance</a:t>
              </a:r>
            </a:p>
            <a:p>
              <a:pPr marL="325834" lvl="1" indent="-162917" algn="l">
                <a:lnSpc>
                  <a:spcPts val="1811"/>
                </a:lnSpc>
                <a:buFont typeface="Arial"/>
                <a:buChar char="•"/>
              </a:pPr>
              <a:r>
                <a:rPr lang="en-US" sz="1509" u="none" strike="noStrike">
                  <a:solidFill>
                    <a:srgbClr val="FFFFFF"/>
                  </a:solidFill>
                  <a:latin typeface="HK Grotesk"/>
                  <a:ea typeface="HK Grotesk"/>
                  <a:cs typeface="HK Grotesk"/>
                  <a:sym typeface="HK Grotesk"/>
                </a:rPr>
                <a:t>Managing multiple DMs and comments is time-consuming</a:t>
              </a:r>
            </a:p>
            <a:p>
              <a:pPr marL="325834" lvl="1" indent="-162917" algn="l">
                <a:lnSpc>
                  <a:spcPts val="1811"/>
                </a:lnSpc>
                <a:buFont typeface="Arial"/>
                <a:buChar char="•"/>
              </a:pPr>
              <a:r>
                <a:rPr lang="en-US" sz="1509" u="none" strike="noStrike">
                  <a:solidFill>
                    <a:srgbClr val="FFFFFF"/>
                  </a:solidFill>
                  <a:latin typeface="HK Grotesk"/>
                  <a:ea typeface="HK Grotesk"/>
                  <a:cs typeface="HK Grotesk"/>
                  <a:sym typeface="HK Grotesk"/>
                </a:rPr>
                <a:t>Algorithm changes affect reach unpredictably</a:t>
              </a:r>
            </a:p>
            <a:p>
              <a:pPr marL="0" lvl="0" indent="0" algn="l">
                <a:lnSpc>
                  <a:spcPts val="1811"/>
                </a:lnSpc>
              </a:pPr>
              <a:endParaRPr lang="en-US" sz="1509" u="none" strike="noStrike">
                <a:solidFill>
                  <a:srgbClr val="FFFFFF"/>
                </a:solidFill>
                <a:latin typeface="HK Grotesk"/>
                <a:ea typeface="HK Grotesk"/>
                <a:cs typeface="HK Grotesk"/>
                <a:sym typeface="HK Grotesk"/>
              </a:endParaRPr>
            </a:p>
          </p:txBody>
        </p:sp>
        <p:sp>
          <p:nvSpPr>
            <p:cNvPr id="20" name="TextBox 20"/>
            <p:cNvSpPr txBox="1"/>
            <p:nvPr/>
          </p:nvSpPr>
          <p:spPr>
            <a:xfrm>
              <a:off x="0" y="-9525"/>
              <a:ext cx="4129503" cy="314325"/>
            </a:xfrm>
            <a:prstGeom prst="rect">
              <a:avLst/>
            </a:prstGeom>
          </p:spPr>
          <p:txBody>
            <a:bodyPr lIns="0" tIns="0" rIns="0" bIns="0" rtlCol="0" anchor="t">
              <a:spAutoFit/>
            </a:bodyPr>
            <a:lstStyle/>
            <a:p>
              <a:pPr marL="0" lvl="0" indent="0" algn="l">
                <a:lnSpc>
                  <a:spcPts val="1855"/>
                </a:lnSpc>
              </a:pPr>
              <a:r>
                <a:rPr lang="en-US" sz="1546" b="1" u="none" strike="noStrike">
                  <a:solidFill>
                    <a:srgbClr val="FFFFFF"/>
                  </a:solidFill>
                  <a:latin typeface="HK Grotesk Semi-Bold"/>
                  <a:ea typeface="HK Grotesk Semi-Bold"/>
                  <a:cs typeface="HK Grotesk Semi-Bold"/>
                  <a:sym typeface="HK Grotesk Semi-Bold"/>
                </a:rPr>
                <a:t>Challenges in Campaign Tracking</a:t>
              </a:r>
            </a:p>
          </p:txBody>
        </p:sp>
      </p:grpSp>
      <p:grpSp>
        <p:nvGrpSpPr>
          <p:cNvPr id="21" name="Group 21"/>
          <p:cNvGrpSpPr/>
          <p:nvPr/>
        </p:nvGrpSpPr>
        <p:grpSpPr>
          <a:xfrm>
            <a:off x="11059333" y="6934994"/>
            <a:ext cx="3097127" cy="2075656"/>
            <a:chOff x="0" y="0"/>
            <a:chExt cx="4129503" cy="2767542"/>
          </a:xfrm>
        </p:grpSpPr>
        <p:sp>
          <p:nvSpPr>
            <p:cNvPr id="22" name="TextBox 22"/>
            <p:cNvSpPr txBox="1"/>
            <p:nvPr/>
          </p:nvSpPr>
          <p:spPr>
            <a:xfrm>
              <a:off x="0" y="929217"/>
              <a:ext cx="4129503" cy="1838325"/>
            </a:xfrm>
            <a:prstGeom prst="rect">
              <a:avLst/>
            </a:prstGeom>
          </p:spPr>
          <p:txBody>
            <a:bodyPr lIns="0" tIns="0" rIns="0" bIns="0" rtlCol="0" anchor="t">
              <a:spAutoFit/>
            </a:bodyPr>
            <a:lstStyle/>
            <a:p>
              <a:pPr marL="325834" lvl="1" indent="-162917" algn="l">
                <a:lnSpc>
                  <a:spcPts val="1811"/>
                </a:lnSpc>
                <a:buFont typeface="Arial"/>
                <a:buChar char="•"/>
              </a:pPr>
              <a:r>
                <a:rPr lang="en-US" sz="1509" u="none" strike="noStrike">
                  <a:solidFill>
                    <a:srgbClr val="FFFFFF"/>
                  </a:solidFill>
                  <a:latin typeface="HK Grotesk"/>
                  <a:ea typeface="HK Grotesk"/>
                  <a:cs typeface="HK Grotesk"/>
                  <a:sym typeface="HK Grotesk"/>
                </a:rPr>
                <a:t>Active during business hours and evenings</a:t>
              </a:r>
            </a:p>
            <a:p>
              <a:pPr marL="325834" lvl="1" indent="-162917" algn="l">
                <a:lnSpc>
                  <a:spcPts val="1811"/>
                </a:lnSpc>
                <a:buFont typeface="Arial"/>
                <a:buChar char="•"/>
              </a:pPr>
              <a:r>
                <a:rPr lang="en-US" sz="1509" u="none" strike="noStrike">
                  <a:solidFill>
                    <a:srgbClr val="FFFFFF"/>
                  </a:solidFill>
                  <a:latin typeface="HK Grotesk"/>
                  <a:ea typeface="HK Grotesk"/>
                  <a:cs typeface="HK Grotesk"/>
                  <a:sym typeface="HK Grotesk"/>
                </a:rPr>
                <a:t>Uses both mobile and desktop interfaces</a:t>
              </a:r>
            </a:p>
            <a:p>
              <a:pPr marL="325834" lvl="1" indent="-162917" algn="l">
                <a:lnSpc>
                  <a:spcPts val="1811"/>
                </a:lnSpc>
                <a:buFont typeface="Arial"/>
                <a:buChar char="•"/>
              </a:pPr>
              <a:r>
                <a:rPr lang="en-US" sz="1509" u="none" strike="noStrike">
                  <a:solidFill>
                    <a:srgbClr val="FFFFFF"/>
                  </a:solidFill>
                  <a:latin typeface="HK Grotesk"/>
                  <a:ea typeface="HK Grotesk"/>
                  <a:cs typeface="HK Grotesk"/>
                  <a:sym typeface="HK Grotesk"/>
                </a:rPr>
                <a:t>Relies on integration with e-commerce tools</a:t>
              </a:r>
            </a:p>
          </p:txBody>
        </p:sp>
        <p:sp>
          <p:nvSpPr>
            <p:cNvPr id="23" name="TextBox 23"/>
            <p:cNvSpPr txBox="1"/>
            <p:nvPr/>
          </p:nvSpPr>
          <p:spPr>
            <a:xfrm>
              <a:off x="0" y="-9525"/>
              <a:ext cx="4129503" cy="314325"/>
            </a:xfrm>
            <a:prstGeom prst="rect">
              <a:avLst/>
            </a:prstGeom>
          </p:spPr>
          <p:txBody>
            <a:bodyPr lIns="0" tIns="0" rIns="0" bIns="0" rtlCol="0" anchor="t">
              <a:spAutoFit/>
            </a:bodyPr>
            <a:lstStyle/>
            <a:p>
              <a:pPr marL="0" lvl="0" indent="0" algn="l">
                <a:lnSpc>
                  <a:spcPts val="1855"/>
                </a:lnSpc>
              </a:pPr>
              <a:r>
                <a:rPr lang="en-US" sz="1546" b="1" u="none" strike="noStrike">
                  <a:solidFill>
                    <a:srgbClr val="FFFFFF"/>
                  </a:solidFill>
                  <a:latin typeface="HK Grotesk Semi-Bold"/>
                  <a:ea typeface="HK Grotesk Semi-Bold"/>
                  <a:cs typeface="HK Grotesk Semi-Bold"/>
                  <a:sym typeface="HK Grotesk Semi-Bold"/>
                </a:rPr>
                <a:t>Optimizing Business Hours</a:t>
              </a:r>
            </a:p>
          </p:txBody>
        </p:sp>
      </p:grpSp>
      <p:grpSp>
        <p:nvGrpSpPr>
          <p:cNvPr id="24" name="Group 24"/>
          <p:cNvGrpSpPr/>
          <p:nvPr/>
        </p:nvGrpSpPr>
        <p:grpSpPr>
          <a:xfrm>
            <a:off x="14523527" y="6934200"/>
            <a:ext cx="3097127" cy="1847850"/>
            <a:chOff x="0" y="0"/>
            <a:chExt cx="4129503" cy="2463800"/>
          </a:xfrm>
        </p:grpSpPr>
        <p:sp>
          <p:nvSpPr>
            <p:cNvPr id="25" name="TextBox 25"/>
            <p:cNvSpPr txBox="1"/>
            <p:nvPr/>
          </p:nvSpPr>
          <p:spPr>
            <a:xfrm>
              <a:off x="0" y="930275"/>
              <a:ext cx="4129503" cy="1533525"/>
            </a:xfrm>
            <a:prstGeom prst="rect">
              <a:avLst/>
            </a:prstGeom>
          </p:spPr>
          <p:txBody>
            <a:bodyPr lIns="0" tIns="0" rIns="0" bIns="0" rtlCol="0" anchor="t">
              <a:spAutoFit/>
            </a:bodyPr>
            <a:lstStyle/>
            <a:p>
              <a:pPr marL="0" lvl="0" indent="0" algn="l">
                <a:lnSpc>
                  <a:spcPts val="1811"/>
                </a:lnSpc>
              </a:pPr>
              <a:r>
                <a:rPr lang="en-US" sz="1509" u="none" strike="noStrike">
                  <a:solidFill>
                    <a:srgbClr val="FFFFFF"/>
                  </a:solidFill>
                  <a:latin typeface="HK Grotesk"/>
                  <a:ea typeface="HK Grotesk"/>
                  <a:cs typeface="HK Grotesk"/>
                  <a:sym typeface="HK Grotesk"/>
                </a:rPr>
                <a:t>Utilizing e</a:t>
              </a:r>
              <a:r>
                <a:rPr lang="en-US" sz="1509" b="1" u="none" strike="noStrike">
                  <a:solidFill>
                    <a:srgbClr val="FFFFFF"/>
                  </a:solidFill>
                  <a:latin typeface="HK Grotesk Bold"/>
                  <a:ea typeface="HK Grotesk Bold"/>
                  <a:cs typeface="HK Grotesk Bold"/>
                  <a:sym typeface="HK Grotesk Bold"/>
                </a:rPr>
                <a:t>-commerce tool integrations,</a:t>
              </a:r>
              <a:r>
                <a:rPr lang="en-US" sz="1509" u="none" strike="noStrike">
                  <a:solidFill>
                    <a:srgbClr val="FFFFFF"/>
                  </a:solidFill>
                  <a:latin typeface="HK Grotesk"/>
                  <a:ea typeface="HK Grotesk"/>
                  <a:cs typeface="HK Grotesk"/>
                  <a:sym typeface="HK Grotesk"/>
                </a:rPr>
                <a:t> Priya effectively converts Instagram engagement into sales, streamlining her business operations for growth and success.</a:t>
              </a:r>
            </a:p>
          </p:txBody>
        </p:sp>
        <p:sp>
          <p:nvSpPr>
            <p:cNvPr id="26" name="TextBox 26"/>
            <p:cNvSpPr txBox="1"/>
            <p:nvPr/>
          </p:nvSpPr>
          <p:spPr>
            <a:xfrm>
              <a:off x="0" y="-9525"/>
              <a:ext cx="4129503" cy="314325"/>
            </a:xfrm>
            <a:prstGeom prst="rect">
              <a:avLst/>
            </a:prstGeom>
          </p:spPr>
          <p:txBody>
            <a:bodyPr lIns="0" tIns="0" rIns="0" bIns="0" rtlCol="0" anchor="t">
              <a:spAutoFit/>
            </a:bodyPr>
            <a:lstStyle/>
            <a:p>
              <a:pPr marL="0" lvl="0" indent="0" algn="l">
                <a:lnSpc>
                  <a:spcPts val="1855"/>
                </a:lnSpc>
              </a:pPr>
              <a:r>
                <a:rPr lang="en-US" sz="1546" b="1" u="none" strike="noStrike">
                  <a:solidFill>
                    <a:srgbClr val="FFFFFF"/>
                  </a:solidFill>
                  <a:latin typeface="HK Grotesk Semi-Bold"/>
                  <a:ea typeface="HK Grotesk Semi-Bold"/>
                  <a:cs typeface="HK Grotesk Semi-Bold"/>
                  <a:sym typeface="HK Grotesk Semi-Bold"/>
                </a:rPr>
                <a:t>Integrating E-Commerce Tools</a:t>
              </a:r>
            </a:p>
          </p:txBody>
        </p:sp>
      </p:grpSp>
      <p:sp>
        <p:nvSpPr>
          <p:cNvPr id="27" name="AutoShape 27"/>
          <p:cNvSpPr/>
          <p:nvPr/>
        </p:nvSpPr>
        <p:spPr>
          <a:xfrm>
            <a:off x="0" y="666750"/>
            <a:ext cx="18288000" cy="0"/>
          </a:xfrm>
          <a:prstGeom prst="line">
            <a:avLst/>
          </a:prstGeom>
          <a:ln w="19050" cap="flat">
            <a:solidFill>
              <a:srgbClr val="FCB045"/>
            </a:solidFill>
            <a:prstDash val="solid"/>
            <a:headEnd type="none" w="sm" len="sm"/>
            <a:tailEnd type="none" w="sm" len="sm"/>
          </a:ln>
        </p:spPr>
      </p:sp>
      <p:sp>
        <p:nvSpPr>
          <p:cNvPr id="28" name="AutoShape 28"/>
          <p:cNvSpPr/>
          <p:nvPr/>
        </p:nvSpPr>
        <p:spPr>
          <a:xfrm>
            <a:off x="0" y="9620250"/>
            <a:ext cx="18288000" cy="0"/>
          </a:xfrm>
          <a:prstGeom prst="line">
            <a:avLst/>
          </a:prstGeom>
          <a:ln w="19050" cap="flat">
            <a:solidFill>
              <a:srgbClr val="FCB045"/>
            </a:solidFill>
            <a:prstDash val="solid"/>
            <a:headEnd type="none" w="sm" len="sm"/>
            <a:tailEnd type="none" w="sm" len="sm"/>
          </a:ln>
        </p:spPr>
      </p:sp>
      <p:sp>
        <p:nvSpPr>
          <p:cNvPr id="29" name="TextBox 29"/>
          <p:cNvSpPr txBox="1"/>
          <p:nvPr/>
        </p:nvSpPr>
        <p:spPr>
          <a:xfrm>
            <a:off x="667345" y="1175385"/>
            <a:ext cx="16953905" cy="1282065"/>
          </a:xfrm>
          <a:prstGeom prst="rect">
            <a:avLst/>
          </a:prstGeom>
        </p:spPr>
        <p:txBody>
          <a:bodyPr lIns="0" tIns="0" rIns="0" bIns="0" rtlCol="0" anchor="t">
            <a:spAutoFit/>
          </a:bodyPr>
          <a:lstStyle/>
          <a:p>
            <a:pPr marL="0" lvl="0" indent="0" algn="l">
              <a:lnSpc>
                <a:spcPts val="9600"/>
              </a:lnSpc>
            </a:pPr>
            <a:r>
              <a:rPr lang="en-US" sz="9600" spc="-192">
                <a:solidFill>
                  <a:srgbClr val="FFFFFF"/>
                </a:solidFill>
                <a:latin typeface="Noto Serif Display ExtraCondensed Light"/>
                <a:ea typeface="Noto Serif Display ExtraCondensed Light"/>
                <a:cs typeface="Noto Serif Display ExtraCondensed Light"/>
                <a:sym typeface="Noto Serif Display ExtraCondensed Light"/>
              </a:rPr>
              <a:t>Instagram User Persona: Priya Patel</a:t>
            </a:r>
          </a:p>
        </p:txBody>
      </p:sp>
      <p:sp>
        <p:nvSpPr>
          <p:cNvPr id="30" name="TextBox 30"/>
          <p:cNvSpPr txBox="1"/>
          <p:nvPr/>
        </p:nvSpPr>
        <p:spPr>
          <a:xfrm>
            <a:off x="667345" y="2607293"/>
            <a:ext cx="15404746" cy="832213"/>
          </a:xfrm>
          <a:prstGeom prst="rect">
            <a:avLst/>
          </a:prstGeom>
        </p:spPr>
        <p:txBody>
          <a:bodyPr lIns="0" tIns="0" rIns="0" bIns="0" rtlCol="0" anchor="t">
            <a:spAutoFit/>
          </a:bodyPr>
          <a:lstStyle/>
          <a:p>
            <a:pPr marL="0" lvl="0" indent="0" algn="l">
              <a:lnSpc>
                <a:spcPts val="3100"/>
              </a:lnSpc>
            </a:pPr>
            <a:r>
              <a:rPr lang="en-US" sz="3100" b="1" spc="-62">
                <a:solidFill>
                  <a:srgbClr val="FFFFFF"/>
                </a:solidFill>
                <a:latin typeface="Noto Serif Display ExtraCondensed Bold"/>
                <a:ea typeface="Noto Serif Display ExtraCondensed Bold"/>
                <a:cs typeface="Noto Serif Display ExtraCondensed Bold"/>
                <a:sym typeface="Noto Serif Display ExtraCondensed Bold"/>
              </a:rPr>
              <a:t>Priya Patel, 34, owns an eco-friendly jewelry brand in Chicago. Started using Instagram for personal use, now leverages it for business growth, customer service, and community-building.</a:t>
            </a:r>
          </a:p>
          <a:p>
            <a:pPr marL="0" lvl="0" indent="0" algn="l">
              <a:lnSpc>
                <a:spcPts val="600"/>
              </a:lnSpc>
            </a:pPr>
            <a:endParaRPr lang="en-US" sz="3100" b="1" spc="-62">
              <a:solidFill>
                <a:srgbClr val="FFFFFF"/>
              </a:solidFill>
              <a:latin typeface="Noto Serif Display ExtraCondensed Bold"/>
              <a:ea typeface="Noto Serif Display ExtraCondensed Bold"/>
              <a:cs typeface="Noto Serif Display ExtraCondensed Bold"/>
              <a:sym typeface="Noto Serif Display ExtraCondensed Bold"/>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66C4">
                <a:alpha val="100000"/>
              </a:srgbClr>
            </a:gs>
            <a:gs pos="100000">
              <a:srgbClr val="FFDE59">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666750" y="4248150"/>
            <a:ext cx="3097127" cy="2228850"/>
            <a:chOff x="0" y="0"/>
            <a:chExt cx="479826" cy="345307"/>
          </a:xfrm>
        </p:grpSpPr>
        <p:sp>
          <p:nvSpPr>
            <p:cNvPr id="3" name="Freeform 3"/>
            <p:cNvSpPr/>
            <p:nvPr/>
          </p:nvSpPr>
          <p:spPr>
            <a:xfrm>
              <a:off x="0" y="0"/>
              <a:ext cx="479826" cy="345307"/>
            </a:xfrm>
            <a:custGeom>
              <a:avLst/>
              <a:gdLst/>
              <a:ahLst/>
              <a:cxnLst/>
              <a:rect l="l" t="t" r="r" b="b"/>
              <a:pathLst>
                <a:path w="479826" h="345307">
                  <a:moveTo>
                    <a:pt x="0" y="0"/>
                  </a:moveTo>
                  <a:lnTo>
                    <a:pt x="479826" y="0"/>
                  </a:lnTo>
                  <a:lnTo>
                    <a:pt x="479826" y="345307"/>
                  </a:lnTo>
                  <a:lnTo>
                    <a:pt x="0" y="345307"/>
                  </a:lnTo>
                  <a:close/>
                </a:path>
              </a:pathLst>
            </a:custGeom>
            <a:blipFill>
              <a:blip r:embed="rId2"/>
              <a:stretch>
                <a:fillRect l="-413" r="-413"/>
              </a:stretch>
            </a:blipFill>
          </p:spPr>
        </p:sp>
      </p:grpSp>
      <p:grpSp>
        <p:nvGrpSpPr>
          <p:cNvPr id="4" name="Group 4"/>
          <p:cNvGrpSpPr/>
          <p:nvPr/>
        </p:nvGrpSpPr>
        <p:grpSpPr>
          <a:xfrm>
            <a:off x="4130944" y="4248150"/>
            <a:ext cx="3097127" cy="2228850"/>
            <a:chOff x="0" y="0"/>
            <a:chExt cx="479826" cy="345307"/>
          </a:xfrm>
        </p:grpSpPr>
        <p:sp>
          <p:nvSpPr>
            <p:cNvPr id="5" name="Freeform 5"/>
            <p:cNvSpPr/>
            <p:nvPr/>
          </p:nvSpPr>
          <p:spPr>
            <a:xfrm>
              <a:off x="0" y="0"/>
              <a:ext cx="479826" cy="345307"/>
            </a:xfrm>
            <a:custGeom>
              <a:avLst/>
              <a:gdLst/>
              <a:ahLst/>
              <a:cxnLst/>
              <a:rect l="l" t="t" r="r" b="b"/>
              <a:pathLst>
                <a:path w="479826" h="345307">
                  <a:moveTo>
                    <a:pt x="0" y="0"/>
                  </a:moveTo>
                  <a:lnTo>
                    <a:pt x="479826" y="0"/>
                  </a:lnTo>
                  <a:lnTo>
                    <a:pt x="479826" y="345307"/>
                  </a:lnTo>
                  <a:lnTo>
                    <a:pt x="0" y="345307"/>
                  </a:lnTo>
                  <a:close/>
                </a:path>
              </a:pathLst>
            </a:custGeom>
            <a:blipFill>
              <a:blip r:embed="rId3"/>
              <a:stretch>
                <a:fillRect l="-413" r="-413"/>
              </a:stretch>
            </a:blipFill>
          </p:spPr>
        </p:sp>
      </p:grpSp>
      <p:grpSp>
        <p:nvGrpSpPr>
          <p:cNvPr id="6" name="Group 6"/>
          <p:cNvGrpSpPr/>
          <p:nvPr/>
        </p:nvGrpSpPr>
        <p:grpSpPr>
          <a:xfrm>
            <a:off x="7595139" y="4248150"/>
            <a:ext cx="3097127" cy="2228850"/>
            <a:chOff x="0" y="0"/>
            <a:chExt cx="479826" cy="345307"/>
          </a:xfrm>
        </p:grpSpPr>
        <p:sp>
          <p:nvSpPr>
            <p:cNvPr id="7" name="Freeform 7"/>
            <p:cNvSpPr/>
            <p:nvPr/>
          </p:nvSpPr>
          <p:spPr>
            <a:xfrm>
              <a:off x="0" y="0"/>
              <a:ext cx="479826" cy="345307"/>
            </a:xfrm>
            <a:custGeom>
              <a:avLst/>
              <a:gdLst/>
              <a:ahLst/>
              <a:cxnLst/>
              <a:rect l="l" t="t" r="r" b="b"/>
              <a:pathLst>
                <a:path w="479826" h="345307">
                  <a:moveTo>
                    <a:pt x="0" y="0"/>
                  </a:moveTo>
                  <a:lnTo>
                    <a:pt x="479826" y="0"/>
                  </a:lnTo>
                  <a:lnTo>
                    <a:pt x="479826" y="345307"/>
                  </a:lnTo>
                  <a:lnTo>
                    <a:pt x="0" y="345307"/>
                  </a:lnTo>
                  <a:close/>
                </a:path>
              </a:pathLst>
            </a:custGeom>
            <a:blipFill>
              <a:blip r:embed="rId4"/>
              <a:stretch>
                <a:fillRect l="-413" r="-413"/>
              </a:stretch>
            </a:blipFill>
          </p:spPr>
        </p:sp>
      </p:grpSp>
      <p:grpSp>
        <p:nvGrpSpPr>
          <p:cNvPr id="8" name="Group 8"/>
          <p:cNvGrpSpPr/>
          <p:nvPr/>
        </p:nvGrpSpPr>
        <p:grpSpPr>
          <a:xfrm>
            <a:off x="11059333" y="4248150"/>
            <a:ext cx="3097127" cy="2228850"/>
            <a:chOff x="0" y="0"/>
            <a:chExt cx="479826" cy="345307"/>
          </a:xfrm>
        </p:grpSpPr>
        <p:sp>
          <p:nvSpPr>
            <p:cNvPr id="9" name="Freeform 9"/>
            <p:cNvSpPr/>
            <p:nvPr/>
          </p:nvSpPr>
          <p:spPr>
            <a:xfrm>
              <a:off x="0" y="0"/>
              <a:ext cx="479826" cy="345307"/>
            </a:xfrm>
            <a:custGeom>
              <a:avLst/>
              <a:gdLst/>
              <a:ahLst/>
              <a:cxnLst/>
              <a:rect l="l" t="t" r="r" b="b"/>
              <a:pathLst>
                <a:path w="479826" h="345307">
                  <a:moveTo>
                    <a:pt x="0" y="0"/>
                  </a:moveTo>
                  <a:lnTo>
                    <a:pt x="479826" y="0"/>
                  </a:lnTo>
                  <a:lnTo>
                    <a:pt x="479826" y="345307"/>
                  </a:lnTo>
                  <a:lnTo>
                    <a:pt x="0" y="345307"/>
                  </a:lnTo>
                  <a:close/>
                </a:path>
              </a:pathLst>
            </a:custGeom>
            <a:blipFill>
              <a:blip r:embed="rId5"/>
              <a:stretch>
                <a:fillRect l="-413" r="-413"/>
              </a:stretch>
            </a:blipFill>
          </p:spPr>
        </p:sp>
      </p:grpSp>
      <p:grpSp>
        <p:nvGrpSpPr>
          <p:cNvPr id="10" name="Group 10"/>
          <p:cNvGrpSpPr/>
          <p:nvPr/>
        </p:nvGrpSpPr>
        <p:grpSpPr>
          <a:xfrm>
            <a:off x="14523527" y="4248150"/>
            <a:ext cx="3097127" cy="2228850"/>
            <a:chOff x="0" y="0"/>
            <a:chExt cx="479826" cy="345307"/>
          </a:xfrm>
        </p:grpSpPr>
        <p:sp>
          <p:nvSpPr>
            <p:cNvPr id="11" name="Freeform 11"/>
            <p:cNvSpPr/>
            <p:nvPr/>
          </p:nvSpPr>
          <p:spPr>
            <a:xfrm>
              <a:off x="0" y="0"/>
              <a:ext cx="479826" cy="345307"/>
            </a:xfrm>
            <a:custGeom>
              <a:avLst/>
              <a:gdLst/>
              <a:ahLst/>
              <a:cxnLst/>
              <a:rect l="l" t="t" r="r" b="b"/>
              <a:pathLst>
                <a:path w="479826" h="345307">
                  <a:moveTo>
                    <a:pt x="0" y="0"/>
                  </a:moveTo>
                  <a:lnTo>
                    <a:pt x="479826" y="0"/>
                  </a:lnTo>
                  <a:lnTo>
                    <a:pt x="479826" y="345307"/>
                  </a:lnTo>
                  <a:lnTo>
                    <a:pt x="0" y="345307"/>
                  </a:lnTo>
                  <a:close/>
                </a:path>
              </a:pathLst>
            </a:custGeom>
            <a:blipFill>
              <a:blip r:embed="rId6"/>
              <a:stretch>
                <a:fillRect l="-413" r="-413"/>
              </a:stretch>
            </a:blipFill>
          </p:spPr>
        </p:sp>
      </p:grpSp>
      <p:grpSp>
        <p:nvGrpSpPr>
          <p:cNvPr id="12" name="Group 12"/>
          <p:cNvGrpSpPr/>
          <p:nvPr/>
        </p:nvGrpSpPr>
        <p:grpSpPr>
          <a:xfrm>
            <a:off x="666750" y="6934994"/>
            <a:ext cx="3097127" cy="2228056"/>
            <a:chOff x="0" y="0"/>
            <a:chExt cx="4129503" cy="2970742"/>
          </a:xfrm>
        </p:grpSpPr>
        <p:sp>
          <p:nvSpPr>
            <p:cNvPr id="13" name="TextBox 13"/>
            <p:cNvSpPr txBox="1"/>
            <p:nvPr/>
          </p:nvSpPr>
          <p:spPr>
            <a:xfrm>
              <a:off x="0" y="980017"/>
              <a:ext cx="4129503" cy="1990725"/>
            </a:xfrm>
            <a:prstGeom prst="rect">
              <a:avLst/>
            </a:prstGeom>
          </p:spPr>
          <p:txBody>
            <a:bodyPr lIns="0" tIns="0" rIns="0" bIns="0" rtlCol="0" anchor="t">
              <a:spAutoFit/>
            </a:bodyPr>
            <a:lstStyle/>
            <a:p>
              <a:pPr marL="351053" lvl="1" indent="-175527" algn="l">
                <a:lnSpc>
                  <a:spcPts val="1951"/>
                </a:lnSpc>
                <a:buFont typeface="Arial"/>
                <a:buChar char="•"/>
              </a:pPr>
              <a:r>
                <a:rPr lang="en-US" sz="1625">
                  <a:solidFill>
                    <a:srgbClr val="000000"/>
                  </a:solidFill>
                  <a:latin typeface="HK Grotesk"/>
                  <a:ea typeface="HK Grotesk"/>
                  <a:cs typeface="HK Grotesk"/>
                  <a:sym typeface="HK Grotesk"/>
                </a:rPr>
                <a:t>S</a:t>
              </a:r>
              <a:r>
                <a:rPr lang="en-US" sz="1625" u="none" strike="noStrike">
                  <a:solidFill>
                    <a:srgbClr val="000000"/>
                  </a:solidFill>
                  <a:latin typeface="HK Grotesk"/>
                  <a:ea typeface="HK Grotesk"/>
                  <a:cs typeface="HK Grotesk"/>
                  <a:sym typeface="HK Grotesk"/>
                </a:rPr>
                <a:t>tay connected with family and old friends</a:t>
              </a:r>
            </a:p>
            <a:p>
              <a:pPr marL="351053" lvl="1" indent="-175527" algn="l">
                <a:lnSpc>
                  <a:spcPts val="1951"/>
                </a:lnSpc>
                <a:buFont typeface="Arial"/>
                <a:buChar char="•"/>
              </a:pPr>
              <a:r>
                <a:rPr lang="en-US" sz="1625" u="none" strike="noStrike">
                  <a:solidFill>
                    <a:srgbClr val="000000"/>
                  </a:solidFill>
                  <a:latin typeface="HK Grotesk"/>
                  <a:ea typeface="HK Grotesk"/>
                  <a:cs typeface="HK Grotesk"/>
                  <a:sym typeface="HK Grotesk"/>
                </a:rPr>
                <a:t>Discover news, hobbies, and memes passively</a:t>
              </a:r>
            </a:p>
            <a:p>
              <a:pPr marL="351053" lvl="1" indent="-175527" algn="l">
                <a:lnSpc>
                  <a:spcPts val="1951"/>
                </a:lnSpc>
                <a:buFont typeface="Arial"/>
                <a:buChar char="•"/>
              </a:pPr>
              <a:r>
                <a:rPr lang="en-US" sz="1625" u="none" strike="noStrike">
                  <a:solidFill>
                    <a:srgbClr val="000000"/>
                  </a:solidFill>
                  <a:latin typeface="HK Grotesk"/>
                  <a:ea typeface="HK Grotesk"/>
                  <a:cs typeface="HK Grotesk"/>
                  <a:sym typeface="HK Grotesk"/>
                </a:rPr>
                <a:t>Avoid information overload and time-wasting</a:t>
              </a:r>
            </a:p>
          </p:txBody>
        </p:sp>
        <p:sp>
          <p:nvSpPr>
            <p:cNvPr id="14" name="TextBox 14"/>
            <p:cNvSpPr txBox="1"/>
            <p:nvPr/>
          </p:nvSpPr>
          <p:spPr>
            <a:xfrm>
              <a:off x="0" y="-9525"/>
              <a:ext cx="4129503" cy="365125"/>
            </a:xfrm>
            <a:prstGeom prst="rect">
              <a:avLst/>
            </a:prstGeom>
          </p:spPr>
          <p:txBody>
            <a:bodyPr lIns="0" tIns="0" rIns="0" bIns="0" rtlCol="0" anchor="t">
              <a:spAutoFit/>
            </a:bodyPr>
            <a:lstStyle/>
            <a:p>
              <a:pPr marL="0" lvl="0" indent="0" algn="l">
                <a:lnSpc>
                  <a:spcPts val="2112"/>
                </a:lnSpc>
              </a:pPr>
              <a:r>
                <a:rPr lang="en-US" sz="1760" b="1" u="none" strike="noStrike">
                  <a:solidFill>
                    <a:srgbClr val="000000"/>
                  </a:solidFill>
                  <a:latin typeface="HK Grotesk Semi-Bold"/>
                  <a:ea typeface="HK Grotesk Semi-Bold"/>
                  <a:cs typeface="HK Grotesk Semi-Bold"/>
                  <a:sym typeface="HK Grotesk Semi-Bold"/>
                </a:rPr>
                <a:t>Goals and Behaviors of Ron</a:t>
              </a:r>
            </a:p>
          </p:txBody>
        </p:sp>
      </p:grpSp>
      <p:grpSp>
        <p:nvGrpSpPr>
          <p:cNvPr id="15" name="Group 15"/>
          <p:cNvGrpSpPr/>
          <p:nvPr/>
        </p:nvGrpSpPr>
        <p:grpSpPr>
          <a:xfrm>
            <a:off x="4130944" y="6934994"/>
            <a:ext cx="3097127" cy="2228056"/>
            <a:chOff x="0" y="0"/>
            <a:chExt cx="4129503" cy="2970742"/>
          </a:xfrm>
        </p:grpSpPr>
        <p:sp>
          <p:nvSpPr>
            <p:cNvPr id="16" name="TextBox 16"/>
            <p:cNvSpPr txBox="1"/>
            <p:nvPr/>
          </p:nvSpPr>
          <p:spPr>
            <a:xfrm>
              <a:off x="0" y="980017"/>
              <a:ext cx="4129503" cy="1990725"/>
            </a:xfrm>
            <a:prstGeom prst="rect">
              <a:avLst/>
            </a:prstGeom>
          </p:spPr>
          <p:txBody>
            <a:bodyPr lIns="0" tIns="0" rIns="0" bIns="0" rtlCol="0" anchor="t">
              <a:spAutoFit/>
            </a:bodyPr>
            <a:lstStyle/>
            <a:p>
              <a:pPr marL="351053" lvl="1" indent="-175527" algn="l">
                <a:lnSpc>
                  <a:spcPts val="1951"/>
                </a:lnSpc>
                <a:buFont typeface="Arial"/>
                <a:buChar char="•"/>
              </a:pPr>
              <a:r>
                <a:rPr lang="en-US" sz="1625">
                  <a:solidFill>
                    <a:srgbClr val="000000"/>
                  </a:solidFill>
                  <a:latin typeface="HK Grotesk"/>
                  <a:ea typeface="HK Grotesk"/>
                  <a:cs typeface="HK Grotesk"/>
                  <a:sym typeface="HK Grotesk"/>
                </a:rPr>
                <a:t>Feels</a:t>
              </a:r>
              <a:r>
                <a:rPr lang="en-US" sz="1625" u="none" strike="noStrike">
                  <a:solidFill>
                    <a:srgbClr val="000000"/>
                  </a:solidFill>
                  <a:latin typeface="HK Grotesk"/>
                  <a:ea typeface="HK Grotesk"/>
                  <a:cs typeface="HK Grotesk"/>
                  <a:sym typeface="HK Grotesk"/>
                </a:rPr>
                <a:t> lost with frequent app feature updates</a:t>
              </a:r>
            </a:p>
            <a:p>
              <a:pPr marL="351053" lvl="1" indent="-175527" algn="l">
                <a:lnSpc>
                  <a:spcPts val="1951"/>
                </a:lnSpc>
                <a:buFont typeface="Arial"/>
                <a:buChar char="•"/>
              </a:pPr>
              <a:r>
                <a:rPr lang="en-US" sz="1625" u="none" strike="noStrike">
                  <a:solidFill>
                    <a:srgbClr val="000000"/>
                  </a:solidFill>
                  <a:latin typeface="HK Grotesk"/>
                  <a:ea typeface="HK Grotesk"/>
                  <a:cs typeface="HK Grotesk"/>
                  <a:sym typeface="HK Grotesk"/>
                </a:rPr>
                <a:t>Gets distracted by endless scrolling</a:t>
              </a:r>
            </a:p>
            <a:p>
              <a:pPr marL="351053" lvl="1" indent="-175527" algn="l">
                <a:lnSpc>
                  <a:spcPts val="1951"/>
                </a:lnSpc>
                <a:buFont typeface="Arial"/>
                <a:buChar char="•"/>
              </a:pPr>
              <a:r>
                <a:rPr lang="en-US" sz="1625" u="none" strike="noStrike">
                  <a:solidFill>
                    <a:srgbClr val="000000"/>
                  </a:solidFill>
                  <a:latin typeface="HK Grotesk"/>
                  <a:ea typeface="HK Grotesk"/>
                  <a:cs typeface="HK Grotesk"/>
                  <a:sym typeface="HK Grotesk"/>
                </a:rPr>
                <a:t>Finds suggested content less relevant</a:t>
              </a:r>
            </a:p>
          </p:txBody>
        </p:sp>
        <p:sp>
          <p:nvSpPr>
            <p:cNvPr id="17" name="TextBox 17"/>
            <p:cNvSpPr txBox="1"/>
            <p:nvPr/>
          </p:nvSpPr>
          <p:spPr>
            <a:xfrm>
              <a:off x="0" y="-9525"/>
              <a:ext cx="4129503" cy="365125"/>
            </a:xfrm>
            <a:prstGeom prst="rect">
              <a:avLst/>
            </a:prstGeom>
          </p:spPr>
          <p:txBody>
            <a:bodyPr lIns="0" tIns="0" rIns="0" bIns="0" rtlCol="0" anchor="t">
              <a:spAutoFit/>
            </a:bodyPr>
            <a:lstStyle/>
            <a:p>
              <a:pPr marL="0" lvl="0" indent="0" algn="l">
                <a:lnSpc>
                  <a:spcPts val="2112"/>
                </a:lnSpc>
              </a:pPr>
              <a:r>
                <a:rPr lang="en-US" sz="1760" b="1" u="none" strike="noStrike">
                  <a:solidFill>
                    <a:srgbClr val="000000"/>
                  </a:solidFill>
                  <a:latin typeface="HK Grotesk Semi-Bold"/>
                  <a:ea typeface="HK Grotesk Semi-Bold"/>
                  <a:cs typeface="HK Grotesk Semi-Bold"/>
                  <a:sym typeface="HK Grotesk Semi-Bold"/>
                </a:rPr>
                <a:t>Challenges in Ron's Experience</a:t>
              </a:r>
            </a:p>
          </p:txBody>
        </p:sp>
      </p:grpSp>
      <p:grpSp>
        <p:nvGrpSpPr>
          <p:cNvPr id="18" name="Group 18"/>
          <p:cNvGrpSpPr/>
          <p:nvPr/>
        </p:nvGrpSpPr>
        <p:grpSpPr>
          <a:xfrm>
            <a:off x="7595139" y="6934200"/>
            <a:ext cx="3097127" cy="2228850"/>
            <a:chOff x="0" y="0"/>
            <a:chExt cx="4129503" cy="2971800"/>
          </a:xfrm>
        </p:grpSpPr>
        <p:sp>
          <p:nvSpPr>
            <p:cNvPr id="19" name="TextBox 19"/>
            <p:cNvSpPr txBox="1"/>
            <p:nvPr/>
          </p:nvSpPr>
          <p:spPr>
            <a:xfrm>
              <a:off x="0" y="981075"/>
              <a:ext cx="4129503" cy="1990725"/>
            </a:xfrm>
            <a:prstGeom prst="rect">
              <a:avLst/>
            </a:prstGeom>
          </p:spPr>
          <p:txBody>
            <a:bodyPr lIns="0" tIns="0" rIns="0" bIns="0" rtlCol="0" anchor="t">
              <a:spAutoFit/>
            </a:bodyPr>
            <a:lstStyle/>
            <a:p>
              <a:pPr marL="351053" lvl="1" indent="-175527" algn="l">
                <a:lnSpc>
                  <a:spcPts val="1951"/>
                </a:lnSpc>
                <a:buFont typeface="Arial"/>
                <a:buChar char="•"/>
              </a:pPr>
              <a:r>
                <a:rPr lang="en-US" sz="1625">
                  <a:solidFill>
                    <a:srgbClr val="000000"/>
                  </a:solidFill>
                  <a:latin typeface="HK Grotesk"/>
                  <a:ea typeface="HK Grotesk"/>
                  <a:cs typeface="HK Grotesk"/>
                  <a:sym typeface="HK Grotesk"/>
                </a:rPr>
                <a:t>Feels l</a:t>
              </a:r>
              <a:r>
                <a:rPr lang="en-US" sz="1625" u="none" strike="noStrike">
                  <a:solidFill>
                    <a:srgbClr val="000000"/>
                  </a:solidFill>
                  <a:latin typeface="HK Grotesk"/>
                  <a:ea typeface="HK Grotesk"/>
                  <a:cs typeface="HK Grotesk"/>
                  <a:sym typeface="HK Grotesk"/>
                </a:rPr>
                <a:t>ost with frequent app feature updates</a:t>
              </a:r>
            </a:p>
            <a:p>
              <a:pPr marL="351053" lvl="1" indent="-175527" algn="l">
                <a:lnSpc>
                  <a:spcPts val="1951"/>
                </a:lnSpc>
                <a:buFont typeface="Arial"/>
                <a:buChar char="•"/>
              </a:pPr>
              <a:r>
                <a:rPr lang="en-US" sz="1625" u="none" strike="noStrike">
                  <a:solidFill>
                    <a:srgbClr val="000000"/>
                  </a:solidFill>
                  <a:latin typeface="HK Grotesk"/>
                  <a:ea typeface="HK Grotesk"/>
                  <a:cs typeface="HK Grotesk"/>
                  <a:sym typeface="HK Grotesk"/>
                </a:rPr>
                <a:t>Gets distracted by endless scrolling</a:t>
              </a:r>
            </a:p>
            <a:p>
              <a:pPr marL="351053" lvl="1" indent="-175527" algn="l">
                <a:lnSpc>
                  <a:spcPts val="1951"/>
                </a:lnSpc>
                <a:buFont typeface="Arial"/>
                <a:buChar char="•"/>
              </a:pPr>
              <a:r>
                <a:rPr lang="en-US" sz="1625" u="none" strike="noStrike">
                  <a:solidFill>
                    <a:srgbClr val="000000"/>
                  </a:solidFill>
                  <a:latin typeface="HK Grotesk"/>
                  <a:ea typeface="HK Grotesk"/>
                  <a:cs typeface="HK Grotesk"/>
                  <a:sym typeface="HK Grotesk"/>
                </a:rPr>
                <a:t>Finds suggested content less relevant</a:t>
              </a:r>
            </a:p>
          </p:txBody>
        </p:sp>
        <p:sp>
          <p:nvSpPr>
            <p:cNvPr id="20" name="TextBox 20"/>
            <p:cNvSpPr txBox="1"/>
            <p:nvPr/>
          </p:nvSpPr>
          <p:spPr>
            <a:xfrm>
              <a:off x="0" y="-9525"/>
              <a:ext cx="4129503" cy="365125"/>
            </a:xfrm>
            <a:prstGeom prst="rect">
              <a:avLst/>
            </a:prstGeom>
          </p:spPr>
          <p:txBody>
            <a:bodyPr lIns="0" tIns="0" rIns="0" bIns="0" rtlCol="0" anchor="t">
              <a:spAutoFit/>
            </a:bodyPr>
            <a:lstStyle/>
            <a:p>
              <a:pPr marL="0" lvl="0" indent="0" algn="l">
                <a:lnSpc>
                  <a:spcPts val="2112"/>
                </a:lnSpc>
              </a:pPr>
              <a:r>
                <a:rPr lang="en-US" sz="1760" b="1" u="none" strike="noStrike">
                  <a:solidFill>
                    <a:srgbClr val="000000"/>
                  </a:solidFill>
                  <a:latin typeface="HK Grotesk Semi-Bold"/>
                  <a:ea typeface="HK Grotesk Semi-Bold"/>
                  <a:cs typeface="HK Grotesk Semi-Bold"/>
                  <a:sym typeface="HK Grotesk Semi-Bold"/>
                </a:rPr>
                <a:t>Context of Use</a:t>
              </a:r>
            </a:p>
          </p:txBody>
        </p:sp>
      </p:grpSp>
      <p:grpSp>
        <p:nvGrpSpPr>
          <p:cNvPr id="21" name="Group 21"/>
          <p:cNvGrpSpPr/>
          <p:nvPr/>
        </p:nvGrpSpPr>
        <p:grpSpPr>
          <a:xfrm>
            <a:off x="11059333" y="6934994"/>
            <a:ext cx="3097127" cy="2228056"/>
            <a:chOff x="0" y="0"/>
            <a:chExt cx="4129503" cy="2970742"/>
          </a:xfrm>
        </p:grpSpPr>
        <p:sp>
          <p:nvSpPr>
            <p:cNvPr id="22" name="TextBox 22"/>
            <p:cNvSpPr txBox="1"/>
            <p:nvPr/>
          </p:nvSpPr>
          <p:spPr>
            <a:xfrm>
              <a:off x="0" y="980017"/>
              <a:ext cx="4129503" cy="1990725"/>
            </a:xfrm>
            <a:prstGeom prst="rect">
              <a:avLst/>
            </a:prstGeom>
          </p:spPr>
          <p:txBody>
            <a:bodyPr lIns="0" tIns="0" rIns="0" bIns="0" rtlCol="0" anchor="t">
              <a:spAutoFit/>
            </a:bodyPr>
            <a:lstStyle/>
            <a:p>
              <a:pPr marL="351053" lvl="1" indent="-175527" algn="l">
                <a:lnSpc>
                  <a:spcPts val="1951"/>
                </a:lnSpc>
                <a:buFont typeface="Arial"/>
                <a:buChar char="•"/>
              </a:pPr>
              <a:r>
                <a:rPr lang="en-US" sz="1625">
                  <a:solidFill>
                    <a:srgbClr val="000000"/>
                  </a:solidFill>
                  <a:latin typeface="HK Grotesk"/>
                  <a:ea typeface="HK Grotesk"/>
                  <a:cs typeface="HK Grotesk"/>
                  <a:sym typeface="HK Grotesk"/>
                </a:rPr>
                <a:t>Us</a:t>
              </a:r>
              <a:r>
                <a:rPr lang="en-US" sz="1625" u="none" strike="noStrike">
                  <a:solidFill>
                    <a:srgbClr val="000000"/>
                  </a:solidFill>
                  <a:latin typeface="HK Grotesk"/>
                  <a:ea typeface="HK Grotesk"/>
                  <a:cs typeface="HK Grotesk"/>
                  <a:sym typeface="HK Grotesk"/>
                </a:rPr>
                <a:t>es Instagram mainly on mobile, in short sessions</a:t>
              </a:r>
            </a:p>
            <a:p>
              <a:pPr marL="351053" lvl="1" indent="-175527" algn="l">
                <a:lnSpc>
                  <a:spcPts val="1951"/>
                </a:lnSpc>
                <a:buFont typeface="Arial"/>
                <a:buChar char="•"/>
              </a:pPr>
              <a:r>
                <a:rPr lang="en-US" sz="1625" u="none" strike="noStrike">
                  <a:solidFill>
                    <a:srgbClr val="000000"/>
                  </a:solidFill>
                  <a:latin typeface="HK Grotesk"/>
                  <a:ea typeface="HK Grotesk"/>
                  <a:cs typeface="HK Grotesk"/>
                  <a:sym typeface="HK Grotesk"/>
                </a:rPr>
                <a:t>Seeks a relaxed, low-effort experience</a:t>
              </a:r>
            </a:p>
            <a:p>
              <a:pPr marL="351053" lvl="1" indent="-175527" algn="l">
                <a:lnSpc>
                  <a:spcPts val="1951"/>
                </a:lnSpc>
                <a:buFont typeface="Arial"/>
                <a:buChar char="•"/>
              </a:pPr>
              <a:r>
                <a:rPr lang="en-US" sz="1625" u="none" strike="noStrike">
                  <a:solidFill>
                    <a:srgbClr val="000000"/>
                  </a:solidFill>
                  <a:latin typeface="HK Grotesk"/>
                  <a:ea typeface="HK Grotesk"/>
                  <a:cs typeface="HK Grotesk"/>
                  <a:sym typeface="HK Grotesk"/>
                </a:rPr>
                <a:t>Not interested in creating or posting content</a:t>
              </a:r>
            </a:p>
          </p:txBody>
        </p:sp>
        <p:sp>
          <p:nvSpPr>
            <p:cNvPr id="23" name="TextBox 23"/>
            <p:cNvSpPr txBox="1"/>
            <p:nvPr/>
          </p:nvSpPr>
          <p:spPr>
            <a:xfrm>
              <a:off x="0" y="-9525"/>
              <a:ext cx="4129503" cy="365125"/>
            </a:xfrm>
            <a:prstGeom prst="rect">
              <a:avLst/>
            </a:prstGeom>
          </p:spPr>
          <p:txBody>
            <a:bodyPr lIns="0" tIns="0" rIns="0" bIns="0" rtlCol="0" anchor="t">
              <a:spAutoFit/>
            </a:bodyPr>
            <a:lstStyle/>
            <a:p>
              <a:pPr marL="0" lvl="0" indent="0" algn="l">
                <a:lnSpc>
                  <a:spcPts val="2112"/>
                </a:lnSpc>
              </a:pPr>
              <a:r>
                <a:rPr lang="en-US" sz="1760" b="1" u="none" strike="noStrike">
                  <a:solidFill>
                    <a:srgbClr val="000000"/>
                  </a:solidFill>
                  <a:latin typeface="HK Grotesk Semi-Bold"/>
                  <a:ea typeface="HK Grotesk Semi-Bold"/>
                  <a:cs typeface="HK Grotesk Semi-Bold"/>
                  <a:sym typeface="HK Grotesk Semi-Bold"/>
                </a:rPr>
                <a:t>Content Preferences</a:t>
              </a:r>
            </a:p>
          </p:txBody>
        </p:sp>
      </p:grpSp>
      <p:grpSp>
        <p:nvGrpSpPr>
          <p:cNvPr id="24" name="Group 24"/>
          <p:cNvGrpSpPr/>
          <p:nvPr/>
        </p:nvGrpSpPr>
        <p:grpSpPr>
          <a:xfrm>
            <a:off x="14523527" y="6934200"/>
            <a:ext cx="3097127" cy="1981200"/>
            <a:chOff x="0" y="0"/>
            <a:chExt cx="4129503" cy="2641600"/>
          </a:xfrm>
        </p:grpSpPr>
        <p:sp>
          <p:nvSpPr>
            <p:cNvPr id="25" name="TextBox 25"/>
            <p:cNvSpPr txBox="1"/>
            <p:nvPr/>
          </p:nvSpPr>
          <p:spPr>
            <a:xfrm>
              <a:off x="0" y="981075"/>
              <a:ext cx="4129503" cy="1660525"/>
            </a:xfrm>
            <a:prstGeom prst="rect">
              <a:avLst/>
            </a:prstGeom>
          </p:spPr>
          <p:txBody>
            <a:bodyPr lIns="0" tIns="0" rIns="0" bIns="0" rtlCol="0" anchor="t">
              <a:spAutoFit/>
            </a:bodyPr>
            <a:lstStyle/>
            <a:p>
              <a:pPr marL="0" lvl="0" indent="0" algn="l">
                <a:lnSpc>
                  <a:spcPts val="1951"/>
                </a:lnSpc>
              </a:pPr>
              <a:r>
                <a:rPr lang="en-US" sz="1625" u="none" strike="noStrike">
                  <a:solidFill>
                    <a:srgbClr val="000000"/>
                  </a:solidFill>
                  <a:latin typeface="HK Grotesk"/>
                  <a:ea typeface="HK Grotesk"/>
                  <a:cs typeface="HK Grotesk"/>
                  <a:sym typeface="HK Grotesk"/>
                </a:rPr>
                <a:t>Ultimately, Ron seeks a </a:t>
              </a:r>
              <a:r>
                <a:rPr lang="en-US" sz="1625" b="1" u="none" strike="noStrike">
                  <a:solidFill>
                    <a:srgbClr val="000000"/>
                  </a:solidFill>
                  <a:latin typeface="HK Grotesk Bold"/>
                  <a:ea typeface="HK Grotesk Bold"/>
                  <a:cs typeface="HK Grotesk Bold"/>
                  <a:sym typeface="HK Grotesk Bold"/>
                </a:rPr>
                <a:t>relaxed browsing atmosphere</a:t>
              </a:r>
              <a:r>
                <a:rPr lang="en-US" sz="1625" u="none" strike="noStrike">
                  <a:solidFill>
                    <a:srgbClr val="000000"/>
                  </a:solidFill>
                  <a:latin typeface="HK Grotesk"/>
                  <a:ea typeface="HK Grotesk"/>
                  <a:cs typeface="HK Grotesk"/>
                  <a:sym typeface="HK Grotesk"/>
                </a:rPr>
                <a:t> that does not demand much effort, allowing him to enjoy social media at his own pace.</a:t>
              </a:r>
            </a:p>
          </p:txBody>
        </p:sp>
        <p:sp>
          <p:nvSpPr>
            <p:cNvPr id="26" name="TextBox 26"/>
            <p:cNvSpPr txBox="1"/>
            <p:nvPr/>
          </p:nvSpPr>
          <p:spPr>
            <a:xfrm>
              <a:off x="0" y="-9525"/>
              <a:ext cx="4129503" cy="365125"/>
            </a:xfrm>
            <a:prstGeom prst="rect">
              <a:avLst/>
            </a:prstGeom>
          </p:spPr>
          <p:txBody>
            <a:bodyPr lIns="0" tIns="0" rIns="0" bIns="0" rtlCol="0" anchor="t">
              <a:spAutoFit/>
            </a:bodyPr>
            <a:lstStyle/>
            <a:p>
              <a:pPr marL="0" lvl="0" indent="0" algn="l">
                <a:lnSpc>
                  <a:spcPts val="2112"/>
                </a:lnSpc>
              </a:pPr>
              <a:r>
                <a:rPr lang="en-US" sz="1760" b="1" u="none" strike="noStrike">
                  <a:solidFill>
                    <a:srgbClr val="000000"/>
                  </a:solidFill>
                  <a:latin typeface="HK Grotesk Semi-Bold"/>
                  <a:ea typeface="HK Grotesk Semi-Bold"/>
                  <a:cs typeface="HK Grotesk Semi-Bold"/>
                  <a:sym typeface="HK Grotesk Semi-Bold"/>
                </a:rPr>
                <a:t>Desired User Experience</a:t>
              </a:r>
            </a:p>
          </p:txBody>
        </p:sp>
      </p:grpSp>
      <p:sp>
        <p:nvSpPr>
          <p:cNvPr id="27" name="AutoShape 27"/>
          <p:cNvSpPr/>
          <p:nvPr/>
        </p:nvSpPr>
        <p:spPr>
          <a:xfrm>
            <a:off x="0" y="666750"/>
            <a:ext cx="18288000" cy="0"/>
          </a:xfrm>
          <a:prstGeom prst="line">
            <a:avLst/>
          </a:prstGeom>
          <a:ln w="19050" cap="flat">
            <a:solidFill>
              <a:srgbClr val="833AB4"/>
            </a:solidFill>
            <a:prstDash val="solid"/>
            <a:headEnd type="none" w="sm" len="sm"/>
            <a:tailEnd type="none" w="sm" len="sm"/>
          </a:ln>
        </p:spPr>
      </p:sp>
      <p:sp>
        <p:nvSpPr>
          <p:cNvPr id="28" name="AutoShape 28"/>
          <p:cNvSpPr/>
          <p:nvPr/>
        </p:nvSpPr>
        <p:spPr>
          <a:xfrm>
            <a:off x="0" y="9620250"/>
            <a:ext cx="18288000" cy="0"/>
          </a:xfrm>
          <a:prstGeom prst="line">
            <a:avLst/>
          </a:prstGeom>
          <a:ln w="19050" cap="flat">
            <a:solidFill>
              <a:srgbClr val="833AB4"/>
            </a:solidFill>
            <a:prstDash val="solid"/>
            <a:headEnd type="none" w="sm" len="sm"/>
            <a:tailEnd type="none" w="sm" len="sm"/>
          </a:ln>
        </p:spPr>
      </p:sp>
      <p:sp>
        <p:nvSpPr>
          <p:cNvPr id="29" name="TextBox 29"/>
          <p:cNvSpPr txBox="1"/>
          <p:nvPr/>
        </p:nvSpPr>
        <p:spPr>
          <a:xfrm>
            <a:off x="667345" y="1175385"/>
            <a:ext cx="16953905" cy="1282065"/>
          </a:xfrm>
          <a:prstGeom prst="rect">
            <a:avLst/>
          </a:prstGeom>
        </p:spPr>
        <p:txBody>
          <a:bodyPr lIns="0" tIns="0" rIns="0" bIns="0" rtlCol="0" anchor="t">
            <a:spAutoFit/>
          </a:bodyPr>
          <a:lstStyle/>
          <a:p>
            <a:pPr marL="0" lvl="0" indent="0" algn="l">
              <a:lnSpc>
                <a:spcPts val="9600"/>
              </a:lnSpc>
            </a:pPr>
            <a:r>
              <a:rPr lang="en-US" sz="9600" spc="-192">
                <a:solidFill>
                  <a:srgbClr val="000000"/>
                </a:solidFill>
                <a:latin typeface="Noto Serif Display ExtraCondensed Light"/>
                <a:ea typeface="Noto Serif Display ExtraCondensed Light"/>
                <a:cs typeface="Noto Serif Display ExtraCondensed Light"/>
                <a:sym typeface="Noto Serif Display ExtraCondensed Light"/>
              </a:rPr>
              <a:t> Ron : The Casual Browser</a:t>
            </a:r>
          </a:p>
        </p:txBody>
      </p:sp>
      <p:sp>
        <p:nvSpPr>
          <p:cNvPr id="30" name="TextBox 30"/>
          <p:cNvSpPr txBox="1"/>
          <p:nvPr/>
        </p:nvSpPr>
        <p:spPr>
          <a:xfrm>
            <a:off x="667345" y="2505075"/>
            <a:ext cx="15028002" cy="1080786"/>
          </a:xfrm>
          <a:prstGeom prst="rect">
            <a:avLst/>
          </a:prstGeom>
        </p:spPr>
        <p:txBody>
          <a:bodyPr lIns="0" tIns="0" rIns="0" bIns="0" rtlCol="0" anchor="t">
            <a:spAutoFit/>
          </a:bodyPr>
          <a:lstStyle/>
          <a:p>
            <a:pPr marL="0" lvl="0" indent="0" algn="l">
              <a:lnSpc>
                <a:spcPts val="2800"/>
              </a:lnSpc>
            </a:pPr>
            <a:r>
              <a:rPr lang="en-US" sz="2800" b="1" spc="-56">
                <a:solidFill>
                  <a:srgbClr val="000000"/>
                </a:solidFill>
                <a:latin typeface="Noto Serif Display ExtraCondensed Bold"/>
                <a:ea typeface="Noto Serif Display ExtraCondensed Bold"/>
                <a:cs typeface="Noto Serif Display ExtraCondensed Bold"/>
                <a:sym typeface="Noto Serif Display ExtraCondensed Bold"/>
              </a:rPr>
              <a:t>Ron Johnson, 48, high school teacher in Seattle. Enjoys keeping up with friends, sports, and news. Prefers passive browsing and minimal engagement.</a:t>
            </a:r>
          </a:p>
          <a:p>
            <a:pPr marL="0" lvl="0" indent="0" algn="l">
              <a:lnSpc>
                <a:spcPts val="2800"/>
              </a:lnSpc>
            </a:pPr>
            <a:endParaRPr lang="en-US" sz="2800" b="1" spc="-56">
              <a:solidFill>
                <a:srgbClr val="000000"/>
              </a:solidFill>
              <a:latin typeface="Noto Serif Display ExtraCondensed Bold"/>
              <a:ea typeface="Noto Serif Display ExtraCondensed Bold"/>
              <a:cs typeface="Noto Serif Display ExtraCondensed Bold"/>
              <a:sym typeface="Noto Serif Display ExtraCondensed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6040"/>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10287000"/>
            <a:chOff x="0" y="0"/>
            <a:chExt cx="1393034" cy="1593725"/>
          </a:xfrm>
        </p:grpSpPr>
        <p:sp>
          <p:nvSpPr>
            <p:cNvPr id="3" name="Freeform 3"/>
            <p:cNvSpPr/>
            <p:nvPr/>
          </p:nvSpPr>
          <p:spPr>
            <a:xfrm>
              <a:off x="0" y="0"/>
              <a:ext cx="1393034" cy="1593725"/>
            </a:xfrm>
            <a:custGeom>
              <a:avLst/>
              <a:gdLst/>
              <a:ahLst/>
              <a:cxnLst/>
              <a:rect l="l" t="t" r="r" b="b"/>
              <a:pathLst>
                <a:path w="1393034" h="1593725">
                  <a:moveTo>
                    <a:pt x="0" y="0"/>
                  </a:moveTo>
                  <a:lnTo>
                    <a:pt x="1393034" y="0"/>
                  </a:lnTo>
                  <a:lnTo>
                    <a:pt x="1393034" y="1593725"/>
                  </a:lnTo>
                  <a:lnTo>
                    <a:pt x="0" y="1593725"/>
                  </a:lnTo>
                  <a:close/>
                </a:path>
              </a:pathLst>
            </a:custGeom>
            <a:blipFill>
              <a:blip r:embed="rId2"/>
              <a:stretch>
                <a:fillRect t="-378" b="-378"/>
              </a:stretch>
            </a:blipFill>
          </p:spPr>
        </p:sp>
      </p:grpSp>
      <p:grpSp>
        <p:nvGrpSpPr>
          <p:cNvPr id="4" name="Group 4"/>
          <p:cNvGrpSpPr/>
          <p:nvPr/>
        </p:nvGrpSpPr>
        <p:grpSpPr>
          <a:xfrm>
            <a:off x="398275" y="3838493"/>
            <a:ext cx="8477250" cy="4473715"/>
            <a:chOff x="0" y="0"/>
            <a:chExt cx="11303000" cy="5964954"/>
          </a:xfrm>
        </p:grpSpPr>
        <p:sp>
          <p:nvSpPr>
            <p:cNvPr id="5" name="TextBox 5"/>
            <p:cNvSpPr txBox="1"/>
            <p:nvPr/>
          </p:nvSpPr>
          <p:spPr>
            <a:xfrm>
              <a:off x="0" y="5406154"/>
              <a:ext cx="11303000" cy="558800"/>
            </a:xfrm>
            <a:prstGeom prst="rect">
              <a:avLst/>
            </a:prstGeom>
          </p:spPr>
          <p:txBody>
            <a:bodyPr lIns="0" tIns="0" rIns="0" bIns="0" rtlCol="0" anchor="t">
              <a:spAutoFit/>
            </a:bodyPr>
            <a:lstStyle/>
            <a:p>
              <a:pPr marL="0" lvl="0" indent="0" algn="l">
                <a:lnSpc>
                  <a:spcPts val="3359"/>
                </a:lnSpc>
                <a:spcBef>
                  <a:spcPct val="0"/>
                </a:spcBef>
              </a:pPr>
              <a:endParaRPr/>
            </a:p>
          </p:txBody>
        </p:sp>
        <p:sp>
          <p:nvSpPr>
            <p:cNvPr id="6" name="TextBox 6"/>
            <p:cNvSpPr txBox="1"/>
            <p:nvPr/>
          </p:nvSpPr>
          <p:spPr>
            <a:xfrm>
              <a:off x="0" y="361950"/>
              <a:ext cx="11303000" cy="4175524"/>
            </a:xfrm>
            <a:prstGeom prst="rect">
              <a:avLst/>
            </a:prstGeom>
          </p:spPr>
          <p:txBody>
            <a:bodyPr lIns="0" tIns="0" rIns="0" bIns="0" rtlCol="0" anchor="t">
              <a:spAutoFit/>
            </a:bodyPr>
            <a:lstStyle/>
            <a:p>
              <a:pPr marL="0" lvl="0" indent="0" algn="l">
                <a:lnSpc>
                  <a:spcPts val="11538"/>
                </a:lnSpc>
              </a:pPr>
              <a:r>
                <a:rPr lang="en-US" sz="12820" spc="-256">
                  <a:solidFill>
                    <a:srgbClr val="FFFFFF"/>
                  </a:solidFill>
                  <a:latin typeface="Noto Serif Display ExtraCondensed Light"/>
                  <a:ea typeface="Noto Serif Display ExtraCondensed Light"/>
                  <a:cs typeface="Noto Serif Display ExtraCondensed Light"/>
                  <a:sym typeface="Noto Serif Display ExtraCondensed Light"/>
                </a:rPr>
                <a:t>Feature Enhancements</a:t>
              </a:r>
            </a:p>
          </p:txBody>
        </p:sp>
      </p:grpSp>
      <p:sp>
        <p:nvSpPr>
          <p:cNvPr id="7" name="AutoShape 7"/>
          <p:cNvSpPr/>
          <p:nvPr/>
        </p:nvSpPr>
        <p:spPr>
          <a:xfrm>
            <a:off x="0" y="676275"/>
            <a:ext cx="9296400" cy="0"/>
          </a:xfrm>
          <a:prstGeom prst="line">
            <a:avLst/>
          </a:prstGeom>
          <a:ln w="19050" cap="flat">
            <a:solidFill>
              <a:srgbClr val="833AB4"/>
            </a:solidFill>
            <a:prstDash val="solid"/>
            <a:headEnd type="none" w="sm" len="sm"/>
            <a:tailEnd type="none" w="sm" len="sm"/>
          </a:ln>
        </p:spPr>
      </p:sp>
      <p:sp>
        <p:nvSpPr>
          <p:cNvPr id="8" name="AutoShape 8"/>
          <p:cNvSpPr/>
          <p:nvPr/>
        </p:nvSpPr>
        <p:spPr>
          <a:xfrm>
            <a:off x="0" y="9553575"/>
            <a:ext cx="9296400" cy="0"/>
          </a:xfrm>
          <a:prstGeom prst="line">
            <a:avLst/>
          </a:prstGeom>
          <a:ln w="19050" cap="flat">
            <a:solidFill>
              <a:srgbClr val="833AB4"/>
            </a:solidFill>
            <a:prstDash val="solid"/>
            <a:headEnd type="none" w="sm" len="sm"/>
            <a:tailEnd type="none" w="sm" len="sm"/>
          </a:ln>
        </p:spPr>
      </p:sp>
      <p:sp>
        <p:nvSpPr>
          <p:cNvPr id="9" name="TextBox 9"/>
          <p:cNvSpPr txBox="1"/>
          <p:nvPr/>
        </p:nvSpPr>
        <p:spPr>
          <a:xfrm>
            <a:off x="398275" y="1224206"/>
            <a:ext cx="9014199" cy="508635"/>
          </a:xfrm>
          <a:prstGeom prst="rect">
            <a:avLst/>
          </a:prstGeom>
        </p:spPr>
        <p:txBody>
          <a:bodyPr lIns="0" tIns="0" rIns="0" bIns="0" rtlCol="0" anchor="t">
            <a:spAutoFit/>
          </a:bodyPr>
          <a:lstStyle/>
          <a:p>
            <a:pPr marL="0" lvl="0" indent="0" algn="l">
              <a:lnSpc>
                <a:spcPts val="3899"/>
              </a:lnSpc>
            </a:pPr>
            <a:r>
              <a:rPr lang="en-US" sz="3899" b="1" u="none">
                <a:solidFill>
                  <a:srgbClr val="FFFFFF"/>
                </a:solidFill>
                <a:latin typeface="HK Grotesk Semi-Bold"/>
                <a:ea typeface="HK Grotesk Semi-Bold"/>
                <a:cs typeface="HK Grotesk Semi-Bold"/>
                <a:sym typeface="HK Grotesk Semi-Bold"/>
              </a:rPr>
              <a:t>Instagram User Experience Redesign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5757">
                <a:alpha val="100000"/>
              </a:srgbClr>
            </a:gs>
            <a:gs pos="100000">
              <a:srgbClr val="8C52FF">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0" y="1377694"/>
            <a:ext cx="18288000" cy="0"/>
          </a:xfrm>
          <a:prstGeom prst="line">
            <a:avLst/>
          </a:prstGeom>
          <a:ln w="19050" cap="flat">
            <a:solidFill>
              <a:srgbClr val="FCB045"/>
            </a:solidFill>
            <a:prstDash val="solid"/>
            <a:headEnd type="none" w="sm" len="sm"/>
            <a:tailEnd type="none" w="sm" len="sm"/>
          </a:ln>
        </p:spPr>
      </p:sp>
      <p:sp>
        <p:nvSpPr>
          <p:cNvPr id="3" name="AutoShape 3"/>
          <p:cNvSpPr/>
          <p:nvPr/>
        </p:nvSpPr>
        <p:spPr>
          <a:xfrm>
            <a:off x="0" y="9620250"/>
            <a:ext cx="18288000" cy="0"/>
          </a:xfrm>
          <a:prstGeom prst="line">
            <a:avLst/>
          </a:prstGeom>
          <a:ln w="19050" cap="flat">
            <a:solidFill>
              <a:srgbClr val="FCB045"/>
            </a:solidFill>
            <a:prstDash val="solid"/>
            <a:headEnd type="none" w="sm" len="sm"/>
            <a:tailEnd type="none" w="sm" len="sm"/>
          </a:ln>
        </p:spPr>
      </p:sp>
      <p:sp>
        <p:nvSpPr>
          <p:cNvPr id="4" name="Freeform 4"/>
          <p:cNvSpPr/>
          <p:nvPr/>
        </p:nvSpPr>
        <p:spPr>
          <a:xfrm>
            <a:off x="13755174" y="1273444"/>
            <a:ext cx="2867801" cy="5823169"/>
          </a:xfrm>
          <a:custGeom>
            <a:avLst/>
            <a:gdLst/>
            <a:ahLst/>
            <a:cxnLst/>
            <a:rect l="l" t="t" r="r" b="b"/>
            <a:pathLst>
              <a:path w="2867801" h="5823169">
                <a:moveTo>
                  <a:pt x="0" y="0"/>
                </a:moveTo>
                <a:lnTo>
                  <a:pt x="2867802" y="0"/>
                </a:lnTo>
                <a:lnTo>
                  <a:pt x="2867802" y="5823169"/>
                </a:lnTo>
                <a:lnTo>
                  <a:pt x="0" y="5823169"/>
                </a:lnTo>
                <a:lnTo>
                  <a:pt x="0" y="0"/>
                </a:lnTo>
                <a:close/>
              </a:path>
            </a:pathLst>
          </a:custGeom>
          <a:blipFill>
            <a:blip r:embed="rId2"/>
            <a:stretch>
              <a:fillRect/>
            </a:stretch>
          </a:blipFill>
        </p:spPr>
      </p:sp>
      <p:sp>
        <p:nvSpPr>
          <p:cNvPr id="5" name="TextBox 5"/>
          <p:cNvSpPr txBox="1"/>
          <p:nvPr/>
        </p:nvSpPr>
        <p:spPr>
          <a:xfrm>
            <a:off x="600936" y="381192"/>
            <a:ext cx="14439182" cy="933450"/>
          </a:xfrm>
          <a:prstGeom prst="rect">
            <a:avLst/>
          </a:prstGeom>
        </p:spPr>
        <p:txBody>
          <a:bodyPr lIns="0" tIns="0" rIns="0" bIns="0" rtlCol="0" anchor="t">
            <a:spAutoFit/>
          </a:bodyPr>
          <a:lstStyle/>
          <a:p>
            <a:pPr algn="l">
              <a:lnSpc>
                <a:spcPts val="7320"/>
              </a:lnSpc>
              <a:spcBef>
                <a:spcPct val="0"/>
              </a:spcBef>
            </a:pPr>
            <a:r>
              <a:rPr lang="en-US" sz="6100">
                <a:solidFill>
                  <a:srgbClr val="F5F5F5"/>
                </a:solidFill>
                <a:latin typeface="HK Grotesk"/>
                <a:ea typeface="HK Grotesk"/>
                <a:cs typeface="HK Grotesk"/>
                <a:sym typeface="HK Grotesk"/>
              </a:rPr>
              <a:t>Enhancement 1: Customizable Themes</a:t>
            </a:r>
          </a:p>
        </p:txBody>
      </p:sp>
      <p:sp>
        <p:nvSpPr>
          <p:cNvPr id="6" name="TextBox 6"/>
          <p:cNvSpPr txBox="1"/>
          <p:nvPr/>
        </p:nvSpPr>
        <p:spPr>
          <a:xfrm>
            <a:off x="630901" y="1749169"/>
            <a:ext cx="9791248" cy="448310"/>
          </a:xfrm>
          <a:prstGeom prst="rect">
            <a:avLst/>
          </a:prstGeom>
        </p:spPr>
        <p:txBody>
          <a:bodyPr lIns="0" tIns="0" rIns="0" bIns="0" rtlCol="0" anchor="t">
            <a:spAutoFit/>
          </a:bodyPr>
          <a:lstStyle/>
          <a:p>
            <a:pPr algn="l">
              <a:lnSpc>
                <a:spcPts val="3640"/>
              </a:lnSpc>
              <a:spcBef>
                <a:spcPct val="0"/>
              </a:spcBef>
            </a:pPr>
            <a:r>
              <a:rPr lang="en-US" sz="2600" spc="-52">
                <a:solidFill>
                  <a:srgbClr val="F5F5F5"/>
                </a:solidFill>
                <a:latin typeface="HK Grotesk Light"/>
                <a:ea typeface="HK Grotesk Light"/>
                <a:cs typeface="HK Grotesk Light"/>
                <a:sym typeface="HK Grotesk Light"/>
              </a:rPr>
              <a:t>Located in: Profile Settings → Customize Your Banner</a:t>
            </a:r>
          </a:p>
        </p:txBody>
      </p:sp>
      <p:sp>
        <p:nvSpPr>
          <p:cNvPr id="7" name="TextBox 7"/>
          <p:cNvSpPr txBox="1"/>
          <p:nvPr/>
        </p:nvSpPr>
        <p:spPr>
          <a:xfrm>
            <a:off x="600936" y="2435604"/>
            <a:ext cx="5703540" cy="448310"/>
          </a:xfrm>
          <a:prstGeom prst="rect">
            <a:avLst/>
          </a:prstGeom>
        </p:spPr>
        <p:txBody>
          <a:bodyPr lIns="0" tIns="0" rIns="0" bIns="0" rtlCol="0" anchor="t">
            <a:spAutoFit/>
          </a:bodyPr>
          <a:lstStyle/>
          <a:p>
            <a:pPr algn="ctr">
              <a:lnSpc>
                <a:spcPts val="3640"/>
              </a:lnSpc>
              <a:spcBef>
                <a:spcPct val="0"/>
              </a:spcBef>
            </a:pPr>
            <a:r>
              <a:rPr lang="en-US" sz="2600" spc="-52">
                <a:solidFill>
                  <a:srgbClr val="F5F5F5"/>
                </a:solidFill>
                <a:latin typeface="HK Grotesk Light"/>
                <a:ea typeface="HK Grotesk Light"/>
                <a:cs typeface="HK Grotesk Light"/>
                <a:sym typeface="HK Grotesk Light"/>
              </a:rPr>
              <a:t>Premium Themes (Subscription Required) </a:t>
            </a:r>
          </a:p>
        </p:txBody>
      </p:sp>
      <p:sp>
        <p:nvSpPr>
          <p:cNvPr id="8" name="TextBox 8"/>
          <p:cNvSpPr txBox="1"/>
          <p:nvPr/>
        </p:nvSpPr>
        <p:spPr>
          <a:xfrm>
            <a:off x="600936" y="3245864"/>
            <a:ext cx="12482939" cy="448310"/>
          </a:xfrm>
          <a:prstGeom prst="rect">
            <a:avLst/>
          </a:prstGeom>
        </p:spPr>
        <p:txBody>
          <a:bodyPr lIns="0" tIns="0" rIns="0" bIns="0" rtlCol="0" anchor="t">
            <a:spAutoFit/>
          </a:bodyPr>
          <a:lstStyle/>
          <a:p>
            <a:pPr algn="l">
              <a:lnSpc>
                <a:spcPts val="3640"/>
              </a:lnSpc>
              <a:spcBef>
                <a:spcPct val="0"/>
              </a:spcBef>
            </a:pPr>
            <a:r>
              <a:rPr lang="en-US" sz="2600" b="1" spc="-52">
                <a:solidFill>
                  <a:srgbClr val="F5F5F5"/>
                </a:solidFill>
                <a:latin typeface="HK Grotesk Bold"/>
                <a:ea typeface="HK Grotesk Bold"/>
                <a:cs typeface="HK Grotesk Bold"/>
                <a:sym typeface="HK Grotesk Bold"/>
              </a:rPr>
              <a:t>PROBLEM: </a:t>
            </a:r>
            <a:r>
              <a:rPr lang="en-US" sz="2600" spc="-52">
                <a:solidFill>
                  <a:srgbClr val="F5F5F5"/>
                </a:solidFill>
                <a:latin typeface="HK Grotesk Light"/>
                <a:ea typeface="HK Grotesk Light"/>
                <a:cs typeface="HK Grotesk Light"/>
                <a:sym typeface="HK Grotesk Light"/>
              </a:rPr>
              <a:t>Instagram lacks personalization options, making the app feel generic.</a:t>
            </a:r>
          </a:p>
        </p:txBody>
      </p:sp>
      <p:sp>
        <p:nvSpPr>
          <p:cNvPr id="9" name="TextBox 9"/>
          <p:cNvSpPr txBox="1"/>
          <p:nvPr/>
        </p:nvSpPr>
        <p:spPr>
          <a:xfrm>
            <a:off x="600936" y="3932299"/>
            <a:ext cx="12236690" cy="448310"/>
          </a:xfrm>
          <a:prstGeom prst="rect">
            <a:avLst/>
          </a:prstGeom>
        </p:spPr>
        <p:txBody>
          <a:bodyPr lIns="0" tIns="0" rIns="0" bIns="0" rtlCol="0" anchor="t">
            <a:spAutoFit/>
          </a:bodyPr>
          <a:lstStyle/>
          <a:p>
            <a:pPr algn="l">
              <a:lnSpc>
                <a:spcPts val="3640"/>
              </a:lnSpc>
              <a:spcBef>
                <a:spcPct val="0"/>
              </a:spcBef>
            </a:pPr>
            <a:r>
              <a:rPr lang="en-US" sz="2600" b="1" spc="-52">
                <a:solidFill>
                  <a:srgbClr val="F5F5F5"/>
                </a:solidFill>
                <a:latin typeface="HK Grotesk Bold"/>
                <a:ea typeface="HK Grotesk Bold"/>
                <a:cs typeface="HK Grotesk Bold"/>
                <a:sym typeface="HK Grotesk Bold"/>
              </a:rPr>
              <a:t>SOLUTION:</a:t>
            </a:r>
            <a:r>
              <a:rPr lang="en-US" sz="2600" spc="-52">
                <a:solidFill>
                  <a:srgbClr val="F5F5F5"/>
                </a:solidFill>
                <a:latin typeface="HK Grotesk Light"/>
                <a:ea typeface="HK Grotesk Light"/>
                <a:cs typeface="HK Grotesk Light"/>
                <a:sym typeface="HK Grotesk Light"/>
              </a:rPr>
              <a:t> Customizable themes allow users to personalize their homepage aesthetics.</a:t>
            </a:r>
          </a:p>
        </p:txBody>
      </p:sp>
      <p:sp>
        <p:nvSpPr>
          <p:cNvPr id="10" name="TextBox 10"/>
          <p:cNvSpPr txBox="1"/>
          <p:nvPr/>
        </p:nvSpPr>
        <p:spPr>
          <a:xfrm>
            <a:off x="600936" y="4818758"/>
            <a:ext cx="11127644" cy="1819910"/>
          </a:xfrm>
          <a:prstGeom prst="rect">
            <a:avLst/>
          </a:prstGeom>
        </p:spPr>
        <p:txBody>
          <a:bodyPr lIns="0" tIns="0" rIns="0" bIns="0" rtlCol="0" anchor="t">
            <a:spAutoFit/>
          </a:bodyPr>
          <a:lstStyle/>
          <a:p>
            <a:pPr algn="l">
              <a:lnSpc>
                <a:spcPts val="3640"/>
              </a:lnSpc>
              <a:spcBef>
                <a:spcPct val="0"/>
              </a:spcBef>
            </a:pPr>
            <a:r>
              <a:rPr lang="en-US" sz="2600" b="1" spc="-52">
                <a:solidFill>
                  <a:srgbClr val="F5F5F5"/>
                </a:solidFill>
                <a:latin typeface="HK Grotesk Bold"/>
                <a:ea typeface="HK Grotesk Bold"/>
                <a:cs typeface="HK Grotesk Bold"/>
                <a:sym typeface="HK Grotesk Bold"/>
              </a:rPr>
              <a:t> KEY BENEFITS </a:t>
            </a:r>
          </a:p>
          <a:p>
            <a:pPr algn="l">
              <a:lnSpc>
                <a:spcPts val="3640"/>
              </a:lnSpc>
              <a:spcBef>
                <a:spcPct val="0"/>
              </a:spcBef>
            </a:pPr>
            <a:r>
              <a:rPr lang="en-US" sz="2600" spc="-52">
                <a:solidFill>
                  <a:srgbClr val="F5F5F5"/>
                </a:solidFill>
                <a:latin typeface="HK Grotesk Light"/>
                <a:ea typeface="HK Grotesk Light"/>
                <a:cs typeface="HK Grotesk Light"/>
                <a:sym typeface="HK Grotesk Light"/>
              </a:rPr>
              <a:t>- Enhanced Personalization </a:t>
            </a:r>
          </a:p>
          <a:p>
            <a:pPr algn="l">
              <a:lnSpc>
                <a:spcPts val="3640"/>
              </a:lnSpc>
              <a:spcBef>
                <a:spcPct val="0"/>
              </a:spcBef>
            </a:pPr>
            <a:r>
              <a:rPr lang="en-US" sz="2600" spc="-52">
                <a:solidFill>
                  <a:srgbClr val="F5F5F5"/>
                </a:solidFill>
                <a:latin typeface="HK Grotesk Light"/>
                <a:ea typeface="HK Grotesk Light"/>
                <a:cs typeface="HK Grotesk Light"/>
                <a:sym typeface="HK Grotesk Light"/>
              </a:rPr>
              <a:t>- Improved User Experience (Dark Mode) </a:t>
            </a:r>
          </a:p>
          <a:p>
            <a:pPr algn="l">
              <a:lnSpc>
                <a:spcPts val="3640"/>
              </a:lnSpc>
              <a:spcBef>
                <a:spcPct val="0"/>
              </a:spcBef>
            </a:pPr>
            <a:r>
              <a:rPr lang="en-US" sz="2600" spc="-52">
                <a:solidFill>
                  <a:srgbClr val="F5F5F5"/>
                </a:solidFill>
                <a:latin typeface="HK Grotesk Light"/>
                <a:ea typeface="HK Grotesk Light"/>
                <a:cs typeface="HK Grotesk Light"/>
                <a:sym typeface="HK Grotesk Light"/>
              </a:rPr>
              <a:t>- Revenue Opportunity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8C52FF">
                <a:alpha val="100000"/>
              </a:srgbClr>
            </a:gs>
            <a:gs pos="100000">
              <a:srgbClr val="FF914D">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0" y="1528016"/>
            <a:ext cx="18288000" cy="0"/>
          </a:xfrm>
          <a:prstGeom prst="line">
            <a:avLst/>
          </a:prstGeom>
          <a:ln w="19050" cap="flat">
            <a:solidFill>
              <a:srgbClr val="FCB045"/>
            </a:solidFill>
            <a:prstDash val="solid"/>
            <a:headEnd type="none" w="sm" len="sm"/>
            <a:tailEnd type="none" w="sm" len="sm"/>
          </a:ln>
        </p:spPr>
      </p:sp>
      <p:sp>
        <p:nvSpPr>
          <p:cNvPr id="3" name="Freeform 3"/>
          <p:cNvSpPr/>
          <p:nvPr/>
        </p:nvSpPr>
        <p:spPr>
          <a:xfrm>
            <a:off x="13064725" y="1785672"/>
            <a:ext cx="3161862" cy="6347769"/>
          </a:xfrm>
          <a:custGeom>
            <a:avLst/>
            <a:gdLst/>
            <a:ahLst/>
            <a:cxnLst/>
            <a:rect l="l" t="t" r="r" b="b"/>
            <a:pathLst>
              <a:path w="3161862" h="6347769">
                <a:moveTo>
                  <a:pt x="0" y="0"/>
                </a:moveTo>
                <a:lnTo>
                  <a:pt x="3161862" y="0"/>
                </a:lnTo>
                <a:lnTo>
                  <a:pt x="3161862" y="6347768"/>
                </a:lnTo>
                <a:lnTo>
                  <a:pt x="0" y="6347768"/>
                </a:lnTo>
                <a:lnTo>
                  <a:pt x="0" y="0"/>
                </a:lnTo>
                <a:close/>
              </a:path>
            </a:pathLst>
          </a:custGeom>
          <a:blipFill>
            <a:blip r:embed="rId2"/>
            <a:stretch>
              <a:fillRect/>
            </a:stretch>
          </a:blipFill>
        </p:spPr>
      </p:sp>
      <p:sp>
        <p:nvSpPr>
          <p:cNvPr id="4" name="TextBox 4"/>
          <p:cNvSpPr txBox="1"/>
          <p:nvPr/>
        </p:nvSpPr>
        <p:spPr>
          <a:xfrm>
            <a:off x="434254" y="414337"/>
            <a:ext cx="14439182" cy="933450"/>
          </a:xfrm>
          <a:prstGeom prst="rect">
            <a:avLst/>
          </a:prstGeom>
        </p:spPr>
        <p:txBody>
          <a:bodyPr lIns="0" tIns="0" rIns="0" bIns="0" rtlCol="0" anchor="t">
            <a:spAutoFit/>
          </a:bodyPr>
          <a:lstStyle/>
          <a:p>
            <a:pPr algn="l">
              <a:lnSpc>
                <a:spcPts val="7320"/>
              </a:lnSpc>
              <a:spcBef>
                <a:spcPct val="0"/>
              </a:spcBef>
            </a:pPr>
            <a:r>
              <a:rPr lang="en-US" sz="6100">
                <a:solidFill>
                  <a:srgbClr val="F5F5F5"/>
                </a:solidFill>
                <a:latin typeface="HK Grotesk"/>
                <a:ea typeface="HK Grotesk"/>
                <a:cs typeface="HK Grotesk"/>
                <a:sym typeface="HK Grotesk"/>
              </a:rPr>
              <a:t>Enhancement 2: Navigation Redesign</a:t>
            </a:r>
          </a:p>
        </p:txBody>
      </p:sp>
      <p:sp>
        <p:nvSpPr>
          <p:cNvPr id="5" name="TextBox 5"/>
          <p:cNvSpPr txBox="1"/>
          <p:nvPr/>
        </p:nvSpPr>
        <p:spPr>
          <a:xfrm>
            <a:off x="434254" y="1651841"/>
            <a:ext cx="7017395" cy="481330"/>
          </a:xfrm>
          <a:prstGeom prst="rect">
            <a:avLst/>
          </a:prstGeom>
        </p:spPr>
        <p:txBody>
          <a:bodyPr lIns="0" tIns="0" rIns="0" bIns="0" rtlCol="0" anchor="t">
            <a:spAutoFit/>
          </a:bodyPr>
          <a:lstStyle/>
          <a:p>
            <a:pPr algn="l">
              <a:lnSpc>
                <a:spcPts val="3919"/>
              </a:lnSpc>
              <a:spcBef>
                <a:spcPct val="0"/>
              </a:spcBef>
            </a:pPr>
            <a:r>
              <a:rPr lang="en-US" sz="2799" i="1" spc="-55">
                <a:solidFill>
                  <a:srgbClr val="F5F5F5"/>
                </a:solidFill>
                <a:latin typeface="HK Grotesk Light Italics"/>
                <a:ea typeface="HK Grotesk Light Italics"/>
                <a:cs typeface="HK Grotesk Light Italics"/>
                <a:sym typeface="HK Grotesk Light Italics"/>
              </a:rPr>
              <a:t>Optimizing Icon Placement for Better User Flow</a:t>
            </a:r>
          </a:p>
        </p:txBody>
      </p:sp>
      <p:sp>
        <p:nvSpPr>
          <p:cNvPr id="6" name="TextBox 6"/>
          <p:cNvSpPr txBox="1"/>
          <p:nvPr/>
        </p:nvSpPr>
        <p:spPr>
          <a:xfrm>
            <a:off x="313703" y="2437971"/>
            <a:ext cx="11279088" cy="1819910"/>
          </a:xfrm>
          <a:prstGeom prst="rect">
            <a:avLst/>
          </a:prstGeom>
        </p:spPr>
        <p:txBody>
          <a:bodyPr lIns="0" tIns="0" rIns="0" bIns="0" rtlCol="0" anchor="t">
            <a:spAutoFit/>
          </a:bodyPr>
          <a:lstStyle/>
          <a:p>
            <a:pPr algn="l">
              <a:lnSpc>
                <a:spcPts val="3640"/>
              </a:lnSpc>
              <a:spcBef>
                <a:spcPct val="0"/>
              </a:spcBef>
            </a:pPr>
            <a:r>
              <a:rPr lang="en-US" sz="2600" b="1" spc="-52">
                <a:solidFill>
                  <a:srgbClr val="F5F5F5"/>
                </a:solidFill>
                <a:latin typeface="HK Grotesk Bold"/>
                <a:ea typeface="HK Grotesk Bold"/>
                <a:cs typeface="HK Grotesk Bold"/>
                <a:sym typeface="HK Grotesk Bold"/>
              </a:rPr>
              <a:t>PROBLEM</a:t>
            </a:r>
          </a:p>
          <a:p>
            <a:pPr algn="l">
              <a:lnSpc>
                <a:spcPts val="3640"/>
              </a:lnSpc>
              <a:spcBef>
                <a:spcPct val="0"/>
              </a:spcBef>
            </a:pPr>
            <a:r>
              <a:rPr lang="en-US" sz="2600" spc="-52">
                <a:solidFill>
                  <a:srgbClr val="F5F5F5"/>
                </a:solidFill>
                <a:latin typeface="HK Grotesk Light"/>
                <a:ea typeface="HK Grotesk Light"/>
                <a:cs typeface="HK Grotesk Light"/>
                <a:sym typeface="HK Grotesk Light"/>
              </a:rPr>
              <a:t>Search icon in bottom bar: Requires uncomfortable thumb stretch on larger phones</a:t>
            </a:r>
          </a:p>
          <a:p>
            <a:pPr algn="l">
              <a:lnSpc>
                <a:spcPts val="3640"/>
              </a:lnSpc>
              <a:spcBef>
                <a:spcPct val="0"/>
              </a:spcBef>
            </a:pPr>
            <a:r>
              <a:rPr lang="en-US" sz="2600" spc="-52">
                <a:solidFill>
                  <a:srgbClr val="F5F5F5"/>
                </a:solidFill>
                <a:latin typeface="HK Grotesk Light"/>
                <a:ea typeface="HK Grotesk Light"/>
                <a:cs typeface="HK Grotesk Light"/>
                <a:sym typeface="HK Grotesk Light"/>
              </a:rPr>
              <a:t>Messages in top bar: Occupies premium space despite being secondary action</a:t>
            </a:r>
          </a:p>
          <a:p>
            <a:pPr algn="l">
              <a:lnSpc>
                <a:spcPts val="3640"/>
              </a:lnSpc>
              <a:spcBef>
                <a:spcPct val="0"/>
              </a:spcBef>
            </a:pPr>
            <a:r>
              <a:rPr lang="en-US" sz="2600" spc="-52">
                <a:solidFill>
                  <a:srgbClr val="F5F5F5"/>
                </a:solidFill>
                <a:latin typeface="HK Grotesk Light"/>
                <a:ea typeface="HK Grotesk Light"/>
                <a:cs typeface="HK Grotesk Light"/>
                <a:sym typeface="HK Grotesk Light"/>
              </a:rPr>
              <a:t>Poor ergonomics: Most-used features aren't optimally placed</a:t>
            </a:r>
          </a:p>
        </p:txBody>
      </p:sp>
      <p:sp>
        <p:nvSpPr>
          <p:cNvPr id="7" name="TextBox 7"/>
          <p:cNvSpPr txBox="1"/>
          <p:nvPr/>
        </p:nvSpPr>
        <p:spPr>
          <a:xfrm>
            <a:off x="313703" y="4478226"/>
            <a:ext cx="12509218" cy="1362710"/>
          </a:xfrm>
          <a:prstGeom prst="rect">
            <a:avLst/>
          </a:prstGeom>
        </p:spPr>
        <p:txBody>
          <a:bodyPr lIns="0" tIns="0" rIns="0" bIns="0" rtlCol="0" anchor="t">
            <a:spAutoFit/>
          </a:bodyPr>
          <a:lstStyle/>
          <a:p>
            <a:pPr algn="l">
              <a:lnSpc>
                <a:spcPts val="3640"/>
              </a:lnSpc>
            </a:pPr>
            <a:r>
              <a:rPr lang="en-US" sz="2600" b="1" spc="-52">
                <a:solidFill>
                  <a:srgbClr val="F5F5F5"/>
                </a:solidFill>
                <a:latin typeface="HK Grotesk Bold"/>
                <a:ea typeface="HK Grotesk Bold"/>
                <a:cs typeface="HK Grotesk Bold"/>
                <a:sym typeface="HK Grotesk Bold"/>
              </a:rPr>
              <a:t>SOLUTION</a:t>
            </a:r>
          </a:p>
          <a:p>
            <a:pPr algn="l">
              <a:lnSpc>
                <a:spcPts val="3640"/>
              </a:lnSpc>
              <a:spcBef>
                <a:spcPct val="0"/>
              </a:spcBef>
            </a:pPr>
            <a:r>
              <a:rPr lang="en-US" sz="2600" spc="-52">
                <a:solidFill>
                  <a:srgbClr val="F5F5F5"/>
                </a:solidFill>
                <a:latin typeface="HK Grotesk"/>
                <a:ea typeface="HK Grotesk"/>
                <a:cs typeface="HK Grotesk"/>
                <a:sym typeface="HK Grotesk"/>
              </a:rPr>
              <a:t>Swap Search and Messages icons to align with natural usage patterns and ergonomic thumb zones.</a:t>
            </a:r>
          </a:p>
        </p:txBody>
      </p:sp>
      <p:sp>
        <p:nvSpPr>
          <p:cNvPr id="8" name="TextBox 8"/>
          <p:cNvSpPr txBox="1"/>
          <p:nvPr/>
        </p:nvSpPr>
        <p:spPr>
          <a:xfrm>
            <a:off x="313703" y="6313531"/>
            <a:ext cx="11860682" cy="1819910"/>
          </a:xfrm>
          <a:prstGeom prst="rect">
            <a:avLst/>
          </a:prstGeom>
        </p:spPr>
        <p:txBody>
          <a:bodyPr lIns="0" tIns="0" rIns="0" bIns="0" rtlCol="0" anchor="t">
            <a:spAutoFit/>
          </a:bodyPr>
          <a:lstStyle/>
          <a:p>
            <a:pPr algn="l">
              <a:lnSpc>
                <a:spcPts val="3640"/>
              </a:lnSpc>
              <a:spcBef>
                <a:spcPct val="0"/>
              </a:spcBef>
            </a:pPr>
            <a:r>
              <a:rPr lang="en-US" sz="2600" b="1" spc="-52">
                <a:solidFill>
                  <a:srgbClr val="F5F5F5"/>
                </a:solidFill>
                <a:latin typeface="HK Grotesk Bold"/>
                <a:ea typeface="HK Grotesk Bold"/>
                <a:cs typeface="HK Grotesk Bold"/>
                <a:sym typeface="HK Grotesk Bold"/>
              </a:rPr>
              <a:t>KEY BENEFITS</a:t>
            </a:r>
          </a:p>
          <a:p>
            <a:pPr algn="l">
              <a:lnSpc>
                <a:spcPts val="3640"/>
              </a:lnSpc>
              <a:spcBef>
                <a:spcPct val="0"/>
              </a:spcBef>
            </a:pPr>
            <a:r>
              <a:rPr lang="en-US" sz="2600" spc="-52">
                <a:solidFill>
                  <a:srgbClr val="F5F5F5"/>
                </a:solidFill>
                <a:latin typeface="HK Grotesk"/>
                <a:ea typeface="HK Grotesk"/>
                <a:cs typeface="HK Grotesk"/>
                <a:sym typeface="HK Grotesk"/>
              </a:rPr>
              <a:t>Improved Ergonomics Bottom navigation optimized for one-handeduse</a:t>
            </a:r>
          </a:p>
          <a:p>
            <a:pPr algn="l">
              <a:lnSpc>
                <a:spcPts val="3640"/>
              </a:lnSpc>
              <a:spcBef>
                <a:spcPct val="0"/>
              </a:spcBef>
            </a:pPr>
            <a:r>
              <a:rPr lang="en-US" sz="2600" spc="-52">
                <a:solidFill>
                  <a:srgbClr val="F5F5F5"/>
                </a:solidFill>
                <a:latin typeface="HK Grotesk"/>
                <a:ea typeface="HK Grotesk"/>
                <a:cs typeface="HK Grotesk"/>
                <a:sym typeface="HK Grotesk"/>
              </a:rPr>
              <a:t>Faster Search Access Top bar placement enables quick discovery</a:t>
            </a:r>
          </a:p>
          <a:p>
            <a:pPr algn="l">
              <a:lnSpc>
                <a:spcPts val="3640"/>
              </a:lnSpc>
              <a:spcBef>
                <a:spcPct val="0"/>
              </a:spcBef>
            </a:pPr>
            <a:r>
              <a:rPr lang="en-US" sz="2600" spc="-52">
                <a:solidFill>
                  <a:srgbClr val="F5F5F5"/>
                </a:solidFill>
                <a:latin typeface="HK Grotesk"/>
                <a:ea typeface="HK Grotesk"/>
                <a:cs typeface="HK Grotesk"/>
                <a:sym typeface="HK Grotesk"/>
              </a:rPr>
              <a:t>Messaging Convenience Bottom placement makes DMs easier to reach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66C4">
                <a:alpha val="100000"/>
              </a:srgbClr>
            </a:gs>
            <a:gs pos="100000">
              <a:srgbClr val="FFDE59">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434254" y="414337"/>
            <a:ext cx="14439182" cy="933450"/>
          </a:xfrm>
          <a:prstGeom prst="rect">
            <a:avLst/>
          </a:prstGeom>
        </p:spPr>
        <p:txBody>
          <a:bodyPr lIns="0" tIns="0" rIns="0" bIns="0" rtlCol="0" anchor="t">
            <a:spAutoFit/>
          </a:bodyPr>
          <a:lstStyle/>
          <a:p>
            <a:pPr algn="l">
              <a:lnSpc>
                <a:spcPts val="7320"/>
              </a:lnSpc>
              <a:spcBef>
                <a:spcPct val="0"/>
              </a:spcBef>
            </a:pPr>
            <a:r>
              <a:rPr lang="en-US" sz="6100">
                <a:solidFill>
                  <a:srgbClr val="F5F5F5"/>
                </a:solidFill>
                <a:latin typeface="HK Grotesk"/>
                <a:ea typeface="HK Grotesk"/>
                <a:cs typeface="HK Grotesk"/>
                <a:sym typeface="HK Grotesk"/>
              </a:rPr>
              <a:t>Enhancement 3: Swipe Gesture Redesign</a:t>
            </a:r>
          </a:p>
        </p:txBody>
      </p:sp>
      <p:sp>
        <p:nvSpPr>
          <p:cNvPr id="3" name="AutoShape 3"/>
          <p:cNvSpPr/>
          <p:nvPr/>
        </p:nvSpPr>
        <p:spPr>
          <a:xfrm>
            <a:off x="0" y="1528016"/>
            <a:ext cx="18288000" cy="0"/>
          </a:xfrm>
          <a:prstGeom prst="line">
            <a:avLst/>
          </a:prstGeom>
          <a:ln w="19050" cap="flat">
            <a:solidFill>
              <a:srgbClr val="FCB045"/>
            </a:solidFill>
            <a:prstDash val="solid"/>
            <a:headEnd type="none" w="sm" len="sm"/>
            <a:tailEnd type="none" w="sm" len="sm"/>
          </a:ln>
        </p:spPr>
      </p:sp>
      <p:sp>
        <p:nvSpPr>
          <p:cNvPr id="4" name="TextBox 4"/>
          <p:cNvSpPr txBox="1"/>
          <p:nvPr/>
        </p:nvSpPr>
        <p:spPr>
          <a:xfrm>
            <a:off x="434254" y="1651841"/>
            <a:ext cx="6102548" cy="448310"/>
          </a:xfrm>
          <a:prstGeom prst="rect">
            <a:avLst/>
          </a:prstGeom>
        </p:spPr>
        <p:txBody>
          <a:bodyPr lIns="0" tIns="0" rIns="0" bIns="0" rtlCol="0" anchor="t">
            <a:spAutoFit/>
          </a:bodyPr>
          <a:lstStyle/>
          <a:p>
            <a:pPr algn="l">
              <a:lnSpc>
                <a:spcPts val="3640"/>
              </a:lnSpc>
              <a:spcBef>
                <a:spcPct val="0"/>
              </a:spcBef>
            </a:pPr>
            <a:r>
              <a:rPr lang="en-US" sz="2600" i="1" spc="-52">
                <a:solidFill>
                  <a:srgbClr val="F5F5F5"/>
                </a:solidFill>
                <a:latin typeface="HK Grotesk Light Italics"/>
                <a:ea typeface="HK Grotesk Light Italics"/>
                <a:cs typeface="HK Grotesk Light Italics"/>
                <a:sym typeface="HK Grotesk Light Italics"/>
              </a:rPr>
              <a:t>Streamlined Navigation: Swipe Right to Feed</a:t>
            </a:r>
          </a:p>
        </p:txBody>
      </p:sp>
      <p:sp>
        <p:nvSpPr>
          <p:cNvPr id="5" name="TextBox 5"/>
          <p:cNvSpPr txBox="1"/>
          <p:nvPr/>
        </p:nvSpPr>
        <p:spPr>
          <a:xfrm>
            <a:off x="434254" y="2353516"/>
            <a:ext cx="11993408" cy="1819909"/>
          </a:xfrm>
          <a:prstGeom prst="rect">
            <a:avLst/>
          </a:prstGeom>
        </p:spPr>
        <p:txBody>
          <a:bodyPr lIns="0" tIns="0" rIns="0" bIns="0" rtlCol="0" anchor="t">
            <a:spAutoFit/>
          </a:bodyPr>
          <a:lstStyle/>
          <a:p>
            <a:pPr algn="l">
              <a:lnSpc>
                <a:spcPts val="3640"/>
              </a:lnSpc>
            </a:pPr>
            <a:r>
              <a:rPr lang="en-US" sz="2600" b="1" spc="-52">
                <a:solidFill>
                  <a:srgbClr val="F5F5F5"/>
                </a:solidFill>
                <a:latin typeface="HK Grotesk Bold"/>
                <a:ea typeface="HK Grotesk Bold"/>
                <a:cs typeface="HK Grotesk Bold"/>
                <a:sym typeface="HK Grotesk Bold"/>
              </a:rPr>
              <a:t>PROBLEM</a:t>
            </a:r>
          </a:p>
          <a:p>
            <a:pPr algn="l">
              <a:lnSpc>
                <a:spcPts val="3640"/>
              </a:lnSpc>
              <a:spcBef>
                <a:spcPct val="0"/>
              </a:spcBef>
            </a:pPr>
            <a:r>
              <a:rPr lang="en-US" sz="2600" spc="-52">
                <a:solidFill>
                  <a:srgbClr val="F5F5F5"/>
                </a:solidFill>
                <a:latin typeface="HK Grotesk"/>
                <a:ea typeface="HK Grotesk"/>
                <a:cs typeface="HK Grotesk"/>
                <a:sym typeface="HK Grotesk"/>
              </a:rPr>
              <a:t>Instagram's swipe-right gesture currently opens Messages, disrupting users who are actively browsing content. This creates friction when accidentally triggered while scrolling through posts.</a:t>
            </a:r>
          </a:p>
        </p:txBody>
      </p:sp>
      <p:sp>
        <p:nvSpPr>
          <p:cNvPr id="6" name="TextBox 6"/>
          <p:cNvSpPr txBox="1"/>
          <p:nvPr/>
        </p:nvSpPr>
        <p:spPr>
          <a:xfrm>
            <a:off x="434254" y="4327891"/>
            <a:ext cx="12504859" cy="1362709"/>
          </a:xfrm>
          <a:prstGeom prst="rect">
            <a:avLst/>
          </a:prstGeom>
        </p:spPr>
        <p:txBody>
          <a:bodyPr lIns="0" tIns="0" rIns="0" bIns="0" rtlCol="0" anchor="t">
            <a:spAutoFit/>
          </a:bodyPr>
          <a:lstStyle/>
          <a:p>
            <a:pPr algn="l">
              <a:lnSpc>
                <a:spcPts val="3640"/>
              </a:lnSpc>
            </a:pPr>
            <a:r>
              <a:rPr lang="en-US" sz="2600" b="1" spc="-52">
                <a:solidFill>
                  <a:srgbClr val="F5F5F5"/>
                </a:solidFill>
                <a:latin typeface="HK Grotesk Bold"/>
                <a:ea typeface="HK Grotesk Bold"/>
                <a:cs typeface="HK Grotesk Bold"/>
                <a:sym typeface="HK Grotesk Bold"/>
              </a:rPr>
              <a:t>SOLUTION</a:t>
            </a:r>
          </a:p>
          <a:p>
            <a:pPr algn="l">
              <a:lnSpc>
                <a:spcPts val="3640"/>
              </a:lnSpc>
              <a:spcBef>
                <a:spcPct val="0"/>
              </a:spcBef>
            </a:pPr>
            <a:r>
              <a:rPr lang="en-US" sz="2600" spc="-52">
                <a:solidFill>
                  <a:srgbClr val="F5F5F5"/>
                </a:solidFill>
                <a:latin typeface="HK Grotesk"/>
                <a:ea typeface="HK Grotesk"/>
                <a:cs typeface="HK Grotesk"/>
                <a:sym typeface="HK Grotesk"/>
              </a:rPr>
              <a:t>Redirect the swipe-right gesture from Messages to Feed, allowing users to seamlessly navigate between different content views without leaving the browsing experience.</a:t>
            </a:r>
          </a:p>
        </p:txBody>
      </p:sp>
      <p:sp>
        <p:nvSpPr>
          <p:cNvPr id="7" name="TextBox 7"/>
          <p:cNvSpPr txBox="1"/>
          <p:nvPr/>
        </p:nvSpPr>
        <p:spPr>
          <a:xfrm>
            <a:off x="434254" y="6025475"/>
            <a:ext cx="11860682" cy="1819910"/>
          </a:xfrm>
          <a:prstGeom prst="rect">
            <a:avLst/>
          </a:prstGeom>
        </p:spPr>
        <p:txBody>
          <a:bodyPr lIns="0" tIns="0" rIns="0" bIns="0" rtlCol="0" anchor="t">
            <a:spAutoFit/>
          </a:bodyPr>
          <a:lstStyle/>
          <a:p>
            <a:pPr algn="l">
              <a:lnSpc>
                <a:spcPts val="3640"/>
              </a:lnSpc>
              <a:spcBef>
                <a:spcPct val="0"/>
              </a:spcBef>
            </a:pPr>
            <a:r>
              <a:rPr lang="en-US" sz="2600" b="1" spc="-52">
                <a:solidFill>
                  <a:srgbClr val="F5F5F5"/>
                </a:solidFill>
                <a:latin typeface="HK Grotesk Bold"/>
                <a:ea typeface="HK Grotesk Bold"/>
                <a:cs typeface="HK Grotesk Bold"/>
                <a:sym typeface="HK Grotesk Bold"/>
              </a:rPr>
              <a:t>KEY BENEFITS</a:t>
            </a:r>
          </a:p>
          <a:p>
            <a:pPr algn="l">
              <a:lnSpc>
                <a:spcPts val="3640"/>
              </a:lnSpc>
              <a:spcBef>
                <a:spcPct val="0"/>
              </a:spcBef>
            </a:pPr>
            <a:r>
              <a:rPr lang="en-US" sz="2600" spc="-52">
                <a:solidFill>
                  <a:srgbClr val="F5F5F5"/>
                </a:solidFill>
                <a:latin typeface="HK Grotesk"/>
                <a:ea typeface="HK Grotesk"/>
                <a:cs typeface="HK Grotesk"/>
                <a:sym typeface="HK Grotesk"/>
              </a:rPr>
              <a:t>Seamless Browsing Flow</a:t>
            </a:r>
          </a:p>
          <a:p>
            <a:pPr algn="l">
              <a:lnSpc>
                <a:spcPts val="3640"/>
              </a:lnSpc>
              <a:spcBef>
                <a:spcPct val="0"/>
              </a:spcBef>
            </a:pPr>
            <a:r>
              <a:rPr lang="en-US" sz="2600" spc="-52">
                <a:solidFill>
                  <a:srgbClr val="F5F5F5"/>
                </a:solidFill>
                <a:latin typeface="HK Grotesk"/>
                <a:ea typeface="HK Grotesk"/>
                <a:cs typeface="HK Grotesk"/>
                <a:sym typeface="HK Grotesk"/>
              </a:rPr>
              <a:t>Behavior-Aligned Navigation</a:t>
            </a:r>
          </a:p>
          <a:p>
            <a:pPr algn="l">
              <a:lnSpc>
                <a:spcPts val="3640"/>
              </a:lnSpc>
              <a:spcBef>
                <a:spcPct val="0"/>
              </a:spcBef>
            </a:pPr>
            <a:r>
              <a:rPr lang="en-US" sz="2600" spc="-52">
                <a:solidFill>
                  <a:srgbClr val="F5F5F5"/>
                </a:solidFill>
                <a:latin typeface="HK Grotesk"/>
                <a:ea typeface="HK Grotesk"/>
                <a:cs typeface="HK Grotesk"/>
                <a:sym typeface="HK Grotesk"/>
              </a:rPr>
              <a:t>Reduced User Frustration</a:t>
            </a:r>
          </a:p>
        </p:txBody>
      </p:sp>
      <p:sp>
        <p:nvSpPr>
          <p:cNvPr id="8" name="Freeform 8"/>
          <p:cNvSpPr/>
          <p:nvPr/>
        </p:nvSpPr>
        <p:spPr>
          <a:xfrm>
            <a:off x="13223035" y="1830528"/>
            <a:ext cx="2921851" cy="6014856"/>
          </a:xfrm>
          <a:custGeom>
            <a:avLst/>
            <a:gdLst/>
            <a:ahLst/>
            <a:cxnLst/>
            <a:rect l="l" t="t" r="r" b="b"/>
            <a:pathLst>
              <a:path w="2921851" h="6014856">
                <a:moveTo>
                  <a:pt x="0" y="0"/>
                </a:moveTo>
                <a:lnTo>
                  <a:pt x="2921851" y="0"/>
                </a:lnTo>
                <a:lnTo>
                  <a:pt x="2921851" y="6014856"/>
                </a:lnTo>
                <a:lnTo>
                  <a:pt x="0" y="6014856"/>
                </a:lnTo>
                <a:lnTo>
                  <a:pt x="0" y="0"/>
                </a:lnTo>
                <a:close/>
              </a:path>
            </a:pathLst>
          </a:custGeom>
          <a:blipFill>
            <a:blip r:embed="rId2"/>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8C52FF">
                <a:alpha val="100000"/>
              </a:srgbClr>
            </a:gs>
            <a:gs pos="100000">
              <a:srgbClr val="FF914D">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0" y="1528016"/>
            <a:ext cx="18288000" cy="0"/>
          </a:xfrm>
          <a:prstGeom prst="line">
            <a:avLst/>
          </a:prstGeom>
          <a:ln w="19050" cap="flat">
            <a:solidFill>
              <a:srgbClr val="FCB045"/>
            </a:solidFill>
            <a:prstDash val="solid"/>
            <a:headEnd type="none" w="sm" len="sm"/>
            <a:tailEnd type="none" w="sm" len="sm"/>
          </a:ln>
        </p:spPr>
      </p:sp>
      <p:sp>
        <p:nvSpPr>
          <p:cNvPr id="3" name="Freeform 3"/>
          <p:cNvSpPr/>
          <p:nvPr/>
        </p:nvSpPr>
        <p:spPr>
          <a:xfrm>
            <a:off x="14135074" y="1782213"/>
            <a:ext cx="2902905" cy="5827635"/>
          </a:xfrm>
          <a:custGeom>
            <a:avLst/>
            <a:gdLst/>
            <a:ahLst/>
            <a:cxnLst/>
            <a:rect l="l" t="t" r="r" b="b"/>
            <a:pathLst>
              <a:path w="2902905" h="5827635">
                <a:moveTo>
                  <a:pt x="0" y="0"/>
                </a:moveTo>
                <a:lnTo>
                  <a:pt x="2902904" y="0"/>
                </a:lnTo>
                <a:lnTo>
                  <a:pt x="2902904" y="5827636"/>
                </a:lnTo>
                <a:lnTo>
                  <a:pt x="0" y="5827636"/>
                </a:lnTo>
                <a:lnTo>
                  <a:pt x="0" y="0"/>
                </a:lnTo>
                <a:close/>
              </a:path>
            </a:pathLst>
          </a:custGeom>
          <a:blipFill>
            <a:blip r:embed="rId2"/>
            <a:stretch>
              <a:fillRect/>
            </a:stretch>
          </a:blipFill>
        </p:spPr>
      </p:sp>
      <p:sp>
        <p:nvSpPr>
          <p:cNvPr id="4" name="TextBox 4"/>
          <p:cNvSpPr txBox="1"/>
          <p:nvPr/>
        </p:nvSpPr>
        <p:spPr>
          <a:xfrm>
            <a:off x="434254" y="414337"/>
            <a:ext cx="14439182" cy="933450"/>
          </a:xfrm>
          <a:prstGeom prst="rect">
            <a:avLst/>
          </a:prstGeom>
        </p:spPr>
        <p:txBody>
          <a:bodyPr lIns="0" tIns="0" rIns="0" bIns="0" rtlCol="0" anchor="t">
            <a:spAutoFit/>
          </a:bodyPr>
          <a:lstStyle/>
          <a:p>
            <a:pPr algn="l">
              <a:lnSpc>
                <a:spcPts val="7320"/>
              </a:lnSpc>
              <a:spcBef>
                <a:spcPct val="0"/>
              </a:spcBef>
            </a:pPr>
            <a:r>
              <a:rPr lang="en-US" sz="6100">
                <a:solidFill>
                  <a:srgbClr val="F5F5F5"/>
                </a:solidFill>
                <a:latin typeface="HK Grotesk"/>
                <a:ea typeface="HK Grotesk"/>
                <a:cs typeface="HK Grotesk"/>
                <a:sym typeface="HK Grotesk"/>
              </a:rPr>
              <a:t>Enhancement 4: Customizable Feed</a:t>
            </a:r>
          </a:p>
        </p:txBody>
      </p:sp>
      <p:sp>
        <p:nvSpPr>
          <p:cNvPr id="5" name="TextBox 5"/>
          <p:cNvSpPr txBox="1"/>
          <p:nvPr/>
        </p:nvSpPr>
        <p:spPr>
          <a:xfrm>
            <a:off x="434254" y="1651841"/>
            <a:ext cx="7779246" cy="481330"/>
          </a:xfrm>
          <a:prstGeom prst="rect">
            <a:avLst/>
          </a:prstGeom>
        </p:spPr>
        <p:txBody>
          <a:bodyPr lIns="0" tIns="0" rIns="0" bIns="0" rtlCol="0" anchor="t">
            <a:spAutoFit/>
          </a:bodyPr>
          <a:lstStyle/>
          <a:p>
            <a:pPr algn="l">
              <a:lnSpc>
                <a:spcPts val="3919"/>
              </a:lnSpc>
              <a:spcBef>
                <a:spcPct val="0"/>
              </a:spcBef>
            </a:pPr>
            <a:r>
              <a:rPr lang="en-US" sz="2799" i="1" spc="-55">
                <a:solidFill>
                  <a:srgbClr val="F5F5F5"/>
                </a:solidFill>
                <a:latin typeface="HK Grotesk Light Italics"/>
                <a:ea typeface="HK Grotesk Light Italics"/>
                <a:cs typeface="HK Grotesk Light Italics"/>
                <a:sym typeface="HK Grotesk Light Italics"/>
              </a:rPr>
              <a:t>Personalized Content Discovery with Keyword Filters</a:t>
            </a:r>
          </a:p>
        </p:txBody>
      </p:sp>
      <p:sp>
        <p:nvSpPr>
          <p:cNvPr id="6" name="TextBox 6"/>
          <p:cNvSpPr txBox="1"/>
          <p:nvPr/>
        </p:nvSpPr>
        <p:spPr>
          <a:xfrm>
            <a:off x="434254" y="2363041"/>
            <a:ext cx="13154353" cy="1819910"/>
          </a:xfrm>
          <a:prstGeom prst="rect">
            <a:avLst/>
          </a:prstGeom>
        </p:spPr>
        <p:txBody>
          <a:bodyPr lIns="0" tIns="0" rIns="0" bIns="0" rtlCol="0" anchor="t">
            <a:spAutoFit/>
          </a:bodyPr>
          <a:lstStyle/>
          <a:p>
            <a:pPr algn="l">
              <a:lnSpc>
                <a:spcPts val="3640"/>
              </a:lnSpc>
            </a:pPr>
            <a:r>
              <a:rPr lang="en-US" sz="2600" b="1" spc="-52">
                <a:solidFill>
                  <a:srgbClr val="F5F5F5"/>
                </a:solidFill>
                <a:latin typeface="HK Grotesk Bold"/>
                <a:ea typeface="HK Grotesk Bold"/>
                <a:cs typeface="HK Grotesk Bold"/>
                <a:sym typeface="HK Grotesk Bold"/>
              </a:rPr>
              <a:t>PROBLEM</a:t>
            </a:r>
          </a:p>
          <a:p>
            <a:pPr algn="l">
              <a:lnSpc>
                <a:spcPts val="3640"/>
              </a:lnSpc>
              <a:spcBef>
                <a:spcPct val="0"/>
              </a:spcBef>
            </a:pPr>
            <a:r>
              <a:rPr lang="en-US" sz="2600" spc="-52">
                <a:solidFill>
                  <a:srgbClr val="F5F5F5"/>
                </a:solidFill>
                <a:latin typeface="HK Grotesk"/>
                <a:ea typeface="HK Grotesk"/>
                <a:cs typeface="HK Grotesk"/>
                <a:sym typeface="HK Grotesk"/>
              </a:rPr>
              <a:t>Instagram's algorithm shows content based solely on past engagement, giving users no control over what appears in their feed. Users feel confused and overwhelmed, unable to prioritize specific topics or discover diverse content beyond what they've previously liked.</a:t>
            </a:r>
          </a:p>
        </p:txBody>
      </p:sp>
      <p:sp>
        <p:nvSpPr>
          <p:cNvPr id="7" name="TextBox 7"/>
          <p:cNvSpPr txBox="1"/>
          <p:nvPr/>
        </p:nvSpPr>
        <p:spPr>
          <a:xfrm>
            <a:off x="434254" y="4600401"/>
            <a:ext cx="12509437" cy="1819909"/>
          </a:xfrm>
          <a:prstGeom prst="rect">
            <a:avLst/>
          </a:prstGeom>
        </p:spPr>
        <p:txBody>
          <a:bodyPr lIns="0" tIns="0" rIns="0" bIns="0" rtlCol="0" anchor="t">
            <a:spAutoFit/>
          </a:bodyPr>
          <a:lstStyle/>
          <a:p>
            <a:pPr algn="l">
              <a:lnSpc>
                <a:spcPts val="3640"/>
              </a:lnSpc>
            </a:pPr>
            <a:r>
              <a:rPr lang="en-US" sz="2600" b="1" spc="-52">
                <a:solidFill>
                  <a:srgbClr val="F5F5F5"/>
                </a:solidFill>
                <a:latin typeface="HK Grotesk Bold"/>
                <a:ea typeface="HK Grotesk Bold"/>
                <a:cs typeface="HK Grotesk Bold"/>
                <a:sym typeface="HK Grotesk Bold"/>
              </a:rPr>
              <a:t>SOLUTION</a:t>
            </a:r>
          </a:p>
          <a:p>
            <a:pPr algn="l">
              <a:lnSpc>
                <a:spcPts val="3640"/>
              </a:lnSpc>
              <a:spcBef>
                <a:spcPct val="0"/>
              </a:spcBef>
            </a:pPr>
            <a:r>
              <a:rPr lang="en-US" sz="2600" spc="-52">
                <a:solidFill>
                  <a:srgbClr val="F5F5F5"/>
                </a:solidFill>
                <a:latin typeface="HK Grotesk"/>
                <a:ea typeface="HK Grotesk"/>
                <a:cs typeface="HK Grotesk"/>
                <a:sym typeface="HK Grotesk"/>
              </a:rPr>
              <a:t>Keyword-based feed customization (Settings → Choose Your Feed) allows users to select topics of interest. Selected keywords appear as filterable pills at the top of the feed, enabling one-tap content filtering by topic.</a:t>
            </a:r>
          </a:p>
        </p:txBody>
      </p:sp>
      <p:sp>
        <p:nvSpPr>
          <p:cNvPr id="8" name="TextBox 8"/>
          <p:cNvSpPr txBox="1"/>
          <p:nvPr/>
        </p:nvSpPr>
        <p:spPr>
          <a:xfrm>
            <a:off x="434254" y="6837761"/>
            <a:ext cx="11860682" cy="1819910"/>
          </a:xfrm>
          <a:prstGeom prst="rect">
            <a:avLst/>
          </a:prstGeom>
        </p:spPr>
        <p:txBody>
          <a:bodyPr lIns="0" tIns="0" rIns="0" bIns="0" rtlCol="0" anchor="t">
            <a:spAutoFit/>
          </a:bodyPr>
          <a:lstStyle/>
          <a:p>
            <a:pPr algn="l">
              <a:lnSpc>
                <a:spcPts val="3640"/>
              </a:lnSpc>
              <a:spcBef>
                <a:spcPct val="0"/>
              </a:spcBef>
            </a:pPr>
            <a:r>
              <a:rPr lang="en-US" sz="2600" b="1" spc="-52">
                <a:solidFill>
                  <a:srgbClr val="F5F5F5"/>
                </a:solidFill>
                <a:latin typeface="HK Grotesk Bold"/>
                <a:ea typeface="HK Grotesk Bold"/>
                <a:cs typeface="HK Grotesk Bold"/>
                <a:sym typeface="HK Grotesk Bold"/>
              </a:rPr>
              <a:t>KEY BENEFITS</a:t>
            </a:r>
          </a:p>
          <a:p>
            <a:pPr algn="l">
              <a:lnSpc>
                <a:spcPts val="3640"/>
              </a:lnSpc>
              <a:spcBef>
                <a:spcPct val="0"/>
              </a:spcBef>
            </a:pPr>
            <a:r>
              <a:rPr lang="en-US" sz="2600" spc="-52">
                <a:solidFill>
                  <a:srgbClr val="F5F5F5"/>
                </a:solidFill>
                <a:latin typeface="HK Grotesk"/>
                <a:ea typeface="HK Grotesk"/>
                <a:cs typeface="HK Grotesk"/>
                <a:sym typeface="HK Grotesk"/>
              </a:rPr>
              <a:t> User Control &amp; Personalization</a:t>
            </a:r>
          </a:p>
          <a:p>
            <a:pPr algn="l">
              <a:lnSpc>
                <a:spcPts val="3640"/>
              </a:lnSpc>
              <a:spcBef>
                <a:spcPct val="0"/>
              </a:spcBef>
            </a:pPr>
            <a:r>
              <a:rPr lang="en-US" sz="2600" spc="-52">
                <a:solidFill>
                  <a:srgbClr val="F5F5F5"/>
                </a:solidFill>
                <a:latin typeface="HK Grotesk"/>
                <a:ea typeface="HK Grotesk"/>
                <a:cs typeface="HK Grotesk"/>
                <a:sym typeface="HK Grotesk"/>
              </a:rPr>
              <a:t>Instant Content Filtering</a:t>
            </a:r>
          </a:p>
          <a:p>
            <a:pPr algn="l">
              <a:lnSpc>
                <a:spcPts val="3640"/>
              </a:lnSpc>
              <a:spcBef>
                <a:spcPct val="0"/>
              </a:spcBef>
            </a:pPr>
            <a:r>
              <a:rPr lang="en-US" sz="2600" spc="-52">
                <a:solidFill>
                  <a:srgbClr val="F5F5F5"/>
                </a:solidFill>
                <a:latin typeface="HK Grotesk"/>
                <a:ea typeface="HK Grotesk"/>
                <a:cs typeface="HK Grotesk"/>
                <a:sym typeface="HK Grotesk"/>
              </a:rPr>
              <a:t>Reduced Content Clutter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5757">
                <a:alpha val="100000"/>
              </a:srgbClr>
            </a:gs>
            <a:gs pos="100000">
              <a:srgbClr val="8C52FF">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0" y="1528016"/>
            <a:ext cx="18288000" cy="0"/>
          </a:xfrm>
          <a:prstGeom prst="line">
            <a:avLst/>
          </a:prstGeom>
          <a:ln w="19050" cap="flat">
            <a:solidFill>
              <a:srgbClr val="FCB045"/>
            </a:solidFill>
            <a:prstDash val="solid"/>
            <a:headEnd type="none" w="sm" len="sm"/>
            <a:tailEnd type="none" w="sm" len="sm"/>
          </a:ln>
        </p:spPr>
      </p:sp>
      <p:sp>
        <p:nvSpPr>
          <p:cNvPr id="3" name="TextBox 3"/>
          <p:cNvSpPr txBox="1"/>
          <p:nvPr/>
        </p:nvSpPr>
        <p:spPr>
          <a:xfrm>
            <a:off x="434254" y="414337"/>
            <a:ext cx="14439182" cy="933450"/>
          </a:xfrm>
          <a:prstGeom prst="rect">
            <a:avLst/>
          </a:prstGeom>
        </p:spPr>
        <p:txBody>
          <a:bodyPr lIns="0" tIns="0" rIns="0" bIns="0" rtlCol="0" anchor="t">
            <a:spAutoFit/>
          </a:bodyPr>
          <a:lstStyle/>
          <a:p>
            <a:pPr algn="l">
              <a:lnSpc>
                <a:spcPts val="7320"/>
              </a:lnSpc>
              <a:spcBef>
                <a:spcPct val="0"/>
              </a:spcBef>
            </a:pPr>
            <a:r>
              <a:rPr lang="en-US" sz="6100">
                <a:solidFill>
                  <a:srgbClr val="F5F5F5"/>
                </a:solidFill>
                <a:latin typeface="HK Grotesk"/>
                <a:ea typeface="HK Grotesk"/>
                <a:cs typeface="HK Grotesk"/>
                <a:sym typeface="HK Grotesk"/>
              </a:rPr>
              <a:t>Enhancement 5: Memories Feature</a:t>
            </a:r>
          </a:p>
        </p:txBody>
      </p:sp>
      <p:sp>
        <p:nvSpPr>
          <p:cNvPr id="4" name="TextBox 4"/>
          <p:cNvSpPr txBox="1"/>
          <p:nvPr/>
        </p:nvSpPr>
        <p:spPr>
          <a:xfrm>
            <a:off x="434254" y="1651841"/>
            <a:ext cx="8486180" cy="481330"/>
          </a:xfrm>
          <a:prstGeom prst="rect">
            <a:avLst/>
          </a:prstGeom>
        </p:spPr>
        <p:txBody>
          <a:bodyPr lIns="0" tIns="0" rIns="0" bIns="0" rtlCol="0" anchor="t">
            <a:spAutoFit/>
          </a:bodyPr>
          <a:lstStyle/>
          <a:p>
            <a:pPr algn="l">
              <a:lnSpc>
                <a:spcPts val="3919"/>
              </a:lnSpc>
              <a:spcBef>
                <a:spcPct val="0"/>
              </a:spcBef>
            </a:pPr>
            <a:r>
              <a:rPr lang="en-US" sz="2799" i="1" spc="-55">
                <a:solidFill>
                  <a:srgbClr val="F5F5F5"/>
                </a:solidFill>
                <a:latin typeface="HK Grotesk Italics"/>
                <a:ea typeface="HK Grotesk Italics"/>
                <a:cs typeface="HK Grotesk Italics"/>
                <a:sym typeface="HK Grotesk Italics"/>
              </a:rPr>
              <a:t>Relive Your Instagram Journey with Automatic Memories</a:t>
            </a:r>
          </a:p>
        </p:txBody>
      </p:sp>
      <p:sp>
        <p:nvSpPr>
          <p:cNvPr id="5" name="TextBox 5"/>
          <p:cNvSpPr txBox="1"/>
          <p:nvPr/>
        </p:nvSpPr>
        <p:spPr>
          <a:xfrm>
            <a:off x="434254" y="2502321"/>
            <a:ext cx="13350672" cy="1362710"/>
          </a:xfrm>
          <a:prstGeom prst="rect">
            <a:avLst/>
          </a:prstGeom>
        </p:spPr>
        <p:txBody>
          <a:bodyPr lIns="0" tIns="0" rIns="0" bIns="0" rtlCol="0" anchor="t">
            <a:spAutoFit/>
          </a:bodyPr>
          <a:lstStyle/>
          <a:p>
            <a:pPr algn="l">
              <a:lnSpc>
                <a:spcPts val="3640"/>
              </a:lnSpc>
            </a:pPr>
            <a:r>
              <a:rPr lang="en-US" sz="2600" b="1" spc="-52">
                <a:solidFill>
                  <a:srgbClr val="F5F5F5"/>
                </a:solidFill>
                <a:latin typeface="HK Grotesk Bold"/>
                <a:ea typeface="HK Grotesk Bold"/>
                <a:cs typeface="HK Grotesk Bold"/>
                <a:sym typeface="HK Grotesk Bold"/>
              </a:rPr>
              <a:t>PROBLEM</a:t>
            </a:r>
          </a:p>
          <a:p>
            <a:pPr algn="l">
              <a:lnSpc>
                <a:spcPts val="3640"/>
              </a:lnSpc>
              <a:spcBef>
                <a:spcPct val="0"/>
              </a:spcBef>
            </a:pPr>
            <a:r>
              <a:rPr lang="en-US" sz="2600" spc="-52">
                <a:solidFill>
                  <a:srgbClr val="F5F5F5"/>
                </a:solidFill>
                <a:latin typeface="HK Grotesk"/>
                <a:ea typeface="HK Grotesk"/>
                <a:cs typeface="HK Grotesk"/>
                <a:sym typeface="HK Grotesk"/>
              </a:rPr>
              <a:t>Instagram has no built-in way to rediscover old content. Users must manually scroll through their entire profile to find past posts, making nostalgic moments difficult to revisit and reshare.</a:t>
            </a:r>
          </a:p>
        </p:txBody>
      </p:sp>
      <p:sp>
        <p:nvSpPr>
          <p:cNvPr id="6" name="TextBox 6"/>
          <p:cNvSpPr txBox="1"/>
          <p:nvPr/>
        </p:nvSpPr>
        <p:spPr>
          <a:xfrm>
            <a:off x="434254" y="4169831"/>
            <a:ext cx="13942073" cy="1362710"/>
          </a:xfrm>
          <a:prstGeom prst="rect">
            <a:avLst/>
          </a:prstGeom>
        </p:spPr>
        <p:txBody>
          <a:bodyPr lIns="0" tIns="0" rIns="0" bIns="0" rtlCol="0" anchor="t">
            <a:spAutoFit/>
          </a:bodyPr>
          <a:lstStyle/>
          <a:p>
            <a:pPr algn="l">
              <a:lnSpc>
                <a:spcPts val="3640"/>
              </a:lnSpc>
            </a:pPr>
            <a:r>
              <a:rPr lang="en-US" sz="2600" b="1" spc="-52">
                <a:solidFill>
                  <a:srgbClr val="F5F5F5"/>
                </a:solidFill>
                <a:latin typeface="HK Grotesk Bold"/>
                <a:ea typeface="HK Grotesk Bold"/>
                <a:cs typeface="HK Grotesk Bold"/>
                <a:sym typeface="HK Grotesk Bold"/>
              </a:rPr>
              <a:t>SOLUTION</a:t>
            </a:r>
          </a:p>
          <a:p>
            <a:pPr algn="l">
              <a:lnSpc>
                <a:spcPts val="3640"/>
              </a:lnSpc>
              <a:spcBef>
                <a:spcPct val="0"/>
              </a:spcBef>
            </a:pPr>
            <a:r>
              <a:rPr lang="en-US" sz="2600" spc="-52">
                <a:solidFill>
                  <a:srgbClr val="F5F5F5"/>
                </a:solidFill>
                <a:latin typeface="HK Grotesk"/>
                <a:ea typeface="HK Grotesk"/>
                <a:cs typeface="HK Grotesk"/>
                <a:sym typeface="HK Grotesk"/>
              </a:rPr>
              <a:t>Automatic Memories feature on the Messages page surfaces posts and stories from 1-2 years ago, allowing users to relive, reshare, and download nostalgic content effortlessly.</a:t>
            </a:r>
          </a:p>
        </p:txBody>
      </p:sp>
      <p:sp>
        <p:nvSpPr>
          <p:cNvPr id="7" name="TextBox 7"/>
          <p:cNvSpPr txBox="1"/>
          <p:nvPr/>
        </p:nvSpPr>
        <p:spPr>
          <a:xfrm>
            <a:off x="434254" y="5797336"/>
            <a:ext cx="11860682" cy="1819910"/>
          </a:xfrm>
          <a:prstGeom prst="rect">
            <a:avLst/>
          </a:prstGeom>
        </p:spPr>
        <p:txBody>
          <a:bodyPr lIns="0" tIns="0" rIns="0" bIns="0" rtlCol="0" anchor="t">
            <a:spAutoFit/>
          </a:bodyPr>
          <a:lstStyle/>
          <a:p>
            <a:pPr algn="l">
              <a:lnSpc>
                <a:spcPts val="3640"/>
              </a:lnSpc>
              <a:spcBef>
                <a:spcPct val="0"/>
              </a:spcBef>
            </a:pPr>
            <a:r>
              <a:rPr lang="en-US" sz="2600" b="1" spc="-52">
                <a:solidFill>
                  <a:srgbClr val="F5F5F5"/>
                </a:solidFill>
                <a:latin typeface="HK Grotesk Bold"/>
                <a:ea typeface="HK Grotesk Bold"/>
                <a:cs typeface="HK Grotesk Bold"/>
                <a:sym typeface="HK Grotesk Bold"/>
              </a:rPr>
              <a:t>KEY BENEFITS</a:t>
            </a:r>
          </a:p>
          <a:p>
            <a:pPr algn="l">
              <a:lnSpc>
                <a:spcPts val="3640"/>
              </a:lnSpc>
              <a:spcBef>
                <a:spcPct val="0"/>
              </a:spcBef>
            </a:pPr>
            <a:r>
              <a:rPr lang="en-US" sz="2600" spc="-52">
                <a:solidFill>
                  <a:srgbClr val="F5F5F5"/>
                </a:solidFill>
                <a:latin typeface="HK Grotesk"/>
                <a:ea typeface="HK Grotesk"/>
                <a:cs typeface="HK Grotesk"/>
                <a:sym typeface="HK Grotesk"/>
              </a:rPr>
              <a:t>Past moments surface automatically without manual scrolling</a:t>
            </a:r>
          </a:p>
          <a:p>
            <a:pPr algn="l">
              <a:lnSpc>
                <a:spcPts val="3640"/>
              </a:lnSpc>
              <a:spcBef>
                <a:spcPct val="0"/>
              </a:spcBef>
            </a:pPr>
            <a:r>
              <a:rPr lang="en-US" sz="2600" spc="-52">
                <a:solidFill>
                  <a:srgbClr val="F5F5F5"/>
                </a:solidFill>
                <a:latin typeface="HK Grotesk"/>
                <a:ea typeface="HK Grotesk"/>
                <a:cs typeface="HK Grotesk"/>
                <a:sym typeface="HK Grotesk"/>
              </a:rPr>
              <a:t>One tap to share memories to Story with date stickers</a:t>
            </a:r>
          </a:p>
          <a:p>
            <a:pPr algn="l">
              <a:lnSpc>
                <a:spcPts val="3640"/>
              </a:lnSpc>
              <a:spcBef>
                <a:spcPct val="0"/>
              </a:spcBef>
            </a:pPr>
            <a:r>
              <a:rPr lang="en-US" sz="2600" spc="-52">
                <a:solidFill>
                  <a:srgbClr val="F5F5F5"/>
                </a:solidFill>
                <a:latin typeface="HK Grotesk"/>
                <a:ea typeface="HK Grotesk"/>
                <a:cs typeface="HK Grotesk"/>
                <a:sym typeface="HK Grotesk"/>
              </a:rPr>
              <a:t>Save memories directly to device for safekeeping</a:t>
            </a:r>
          </a:p>
        </p:txBody>
      </p:sp>
      <p:sp>
        <p:nvSpPr>
          <p:cNvPr id="8" name="Freeform 8"/>
          <p:cNvSpPr/>
          <p:nvPr/>
        </p:nvSpPr>
        <p:spPr>
          <a:xfrm>
            <a:off x="14066395" y="1528016"/>
            <a:ext cx="3192905" cy="6465301"/>
          </a:xfrm>
          <a:custGeom>
            <a:avLst/>
            <a:gdLst/>
            <a:ahLst/>
            <a:cxnLst/>
            <a:rect l="l" t="t" r="r" b="b"/>
            <a:pathLst>
              <a:path w="3192905" h="6465301">
                <a:moveTo>
                  <a:pt x="0" y="0"/>
                </a:moveTo>
                <a:lnTo>
                  <a:pt x="3192905" y="0"/>
                </a:lnTo>
                <a:lnTo>
                  <a:pt x="3192905" y="6465302"/>
                </a:lnTo>
                <a:lnTo>
                  <a:pt x="0" y="6465302"/>
                </a:lnTo>
                <a:lnTo>
                  <a:pt x="0" y="0"/>
                </a:lnTo>
                <a:close/>
              </a:path>
            </a:pathLst>
          </a:custGeom>
          <a:blipFill>
            <a:blip r:embed="rId2"/>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6040"/>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10287000"/>
            <a:chOff x="0" y="0"/>
            <a:chExt cx="1393034" cy="1593725"/>
          </a:xfrm>
        </p:grpSpPr>
        <p:sp>
          <p:nvSpPr>
            <p:cNvPr id="3" name="Freeform 3"/>
            <p:cNvSpPr/>
            <p:nvPr/>
          </p:nvSpPr>
          <p:spPr>
            <a:xfrm>
              <a:off x="0" y="0"/>
              <a:ext cx="1393034" cy="1593725"/>
            </a:xfrm>
            <a:custGeom>
              <a:avLst/>
              <a:gdLst/>
              <a:ahLst/>
              <a:cxnLst/>
              <a:rect l="l" t="t" r="r" b="b"/>
              <a:pathLst>
                <a:path w="1393034" h="1593725">
                  <a:moveTo>
                    <a:pt x="0" y="0"/>
                  </a:moveTo>
                  <a:lnTo>
                    <a:pt x="1393034" y="0"/>
                  </a:lnTo>
                  <a:lnTo>
                    <a:pt x="1393034" y="1593725"/>
                  </a:lnTo>
                  <a:lnTo>
                    <a:pt x="0" y="1593725"/>
                  </a:lnTo>
                  <a:close/>
                </a:path>
              </a:pathLst>
            </a:custGeom>
            <a:blipFill>
              <a:blip r:embed="rId2"/>
              <a:stretch>
                <a:fillRect t="-378" b="-378"/>
              </a:stretch>
            </a:blipFill>
          </p:spPr>
        </p:sp>
      </p:grpSp>
      <p:sp>
        <p:nvSpPr>
          <p:cNvPr id="4" name="TextBox 4"/>
          <p:cNvSpPr txBox="1"/>
          <p:nvPr/>
        </p:nvSpPr>
        <p:spPr>
          <a:xfrm>
            <a:off x="666750" y="1638300"/>
            <a:ext cx="6886575" cy="484505"/>
          </a:xfrm>
          <a:prstGeom prst="rect">
            <a:avLst/>
          </a:prstGeom>
        </p:spPr>
        <p:txBody>
          <a:bodyPr lIns="0" tIns="0" rIns="0" bIns="0" rtlCol="0" anchor="t">
            <a:spAutoFit/>
          </a:bodyPr>
          <a:lstStyle/>
          <a:p>
            <a:pPr marL="0" lvl="0" indent="0" algn="l">
              <a:lnSpc>
                <a:spcPts val="3699"/>
              </a:lnSpc>
            </a:pPr>
            <a:r>
              <a:rPr lang="en-US" sz="3699" b="1" u="none">
                <a:solidFill>
                  <a:srgbClr val="FFFFFF"/>
                </a:solidFill>
                <a:latin typeface="HK Grotesk Semi-Bold"/>
                <a:ea typeface="HK Grotesk Semi-Bold"/>
                <a:cs typeface="HK Grotesk Semi-Bold"/>
                <a:sym typeface="HK Grotesk Semi-Bold"/>
              </a:rPr>
              <a:t>Exploring Instagram User Stories</a:t>
            </a:r>
          </a:p>
        </p:txBody>
      </p:sp>
      <p:grpSp>
        <p:nvGrpSpPr>
          <p:cNvPr id="5" name="Group 5"/>
          <p:cNvGrpSpPr/>
          <p:nvPr/>
        </p:nvGrpSpPr>
        <p:grpSpPr>
          <a:xfrm>
            <a:off x="666750" y="3092958"/>
            <a:ext cx="6886575" cy="6470142"/>
            <a:chOff x="0" y="0"/>
            <a:chExt cx="9182100" cy="8626856"/>
          </a:xfrm>
        </p:grpSpPr>
        <p:sp>
          <p:nvSpPr>
            <p:cNvPr id="6" name="TextBox 6"/>
            <p:cNvSpPr txBox="1"/>
            <p:nvPr/>
          </p:nvSpPr>
          <p:spPr>
            <a:xfrm>
              <a:off x="0" y="8068056"/>
              <a:ext cx="9182100" cy="558800"/>
            </a:xfrm>
            <a:prstGeom prst="rect">
              <a:avLst/>
            </a:prstGeom>
          </p:spPr>
          <p:txBody>
            <a:bodyPr lIns="0" tIns="0" rIns="0" bIns="0" rtlCol="0" anchor="t">
              <a:spAutoFit/>
            </a:bodyPr>
            <a:lstStyle/>
            <a:p>
              <a:pPr marL="0" lvl="0" indent="0" algn="l">
                <a:lnSpc>
                  <a:spcPts val="3359"/>
                </a:lnSpc>
                <a:spcBef>
                  <a:spcPct val="0"/>
                </a:spcBef>
              </a:pPr>
              <a:endParaRPr/>
            </a:p>
          </p:txBody>
        </p:sp>
        <p:sp>
          <p:nvSpPr>
            <p:cNvPr id="7" name="TextBox 7"/>
            <p:cNvSpPr txBox="1"/>
            <p:nvPr/>
          </p:nvSpPr>
          <p:spPr>
            <a:xfrm>
              <a:off x="0" y="409575"/>
              <a:ext cx="9182100" cy="6789801"/>
            </a:xfrm>
            <a:prstGeom prst="rect">
              <a:avLst/>
            </a:prstGeom>
          </p:spPr>
          <p:txBody>
            <a:bodyPr lIns="0" tIns="0" rIns="0" bIns="0" rtlCol="0" anchor="t">
              <a:spAutoFit/>
            </a:bodyPr>
            <a:lstStyle/>
            <a:p>
              <a:pPr marL="0" lvl="0" indent="0" algn="l">
                <a:lnSpc>
                  <a:spcPts val="12797"/>
                </a:lnSpc>
              </a:pPr>
              <a:r>
                <a:rPr lang="en-US" sz="14219" spc="-284">
                  <a:solidFill>
                    <a:srgbClr val="FFFFFF"/>
                  </a:solidFill>
                  <a:latin typeface="Noto Serif Display ExtraCondensed Light"/>
                  <a:ea typeface="Noto Serif Display ExtraCondensed Light"/>
                  <a:cs typeface="Noto Serif Display ExtraCondensed Light"/>
                  <a:sym typeface="Noto Serif Display ExtraCondensed Light"/>
                </a:rPr>
                <a:t>User Stories</a:t>
              </a:r>
            </a:p>
            <a:p>
              <a:pPr marL="0" lvl="0" indent="0" algn="l">
                <a:lnSpc>
                  <a:spcPts val="12797"/>
                </a:lnSpc>
              </a:pPr>
              <a:r>
                <a:rPr lang="en-US" sz="14219" spc="-284">
                  <a:solidFill>
                    <a:srgbClr val="FFFFFF"/>
                  </a:solidFill>
                  <a:latin typeface="Noto Serif Display ExtraCondensed Light"/>
                  <a:ea typeface="Noto Serif Display ExtraCondensed Light"/>
                  <a:cs typeface="Noto Serif Display ExtraCondensed Light"/>
                  <a:sym typeface="Noto Serif Display ExtraCondensed Light"/>
                </a:rPr>
                <a:t>Unveiled</a:t>
              </a:r>
            </a:p>
          </p:txBody>
        </p:sp>
      </p:grpSp>
      <p:sp>
        <p:nvSpPr>
          <p:cNvPr id="8" name="AutoShape 8"/>
          <p:cNvSpPr/>
          <p:nvPr/>
        </p:nvSpPr>
        <p:spPr>
          <a:xfrm>
            <a:off x="0" y="676275"/>
            <a:ext cx="9296400" cy="0"/>
          </a:xfrm>
          <a:prstGeom prst="line">
            <a:avLst/>
          </a:prstGeom>
          <a:ln w="19050" cap="flat">
            <a:solidFill>
              <a:srgbClr val="833AB4"/>
            </a:solidFill>
            <a:prstDash val="solid"/>
            <a:headEnd type="none" w="sm" len="sm"/>
            <a:tailEnd type="none" w="sm" len="sm"/>
          </a:ln>
        </p:spPr>
      </p:sp>
      <p:sp>
        <p:nvSpPr>
          <p:cNvPr id="9" name="AutoShape 9"/>
          <p:cNvSpPr/>
          <p:nvPr/>
        </p:nvSpPr>
        <p:spPr>
          <a:xfrm>
            <a:off x="0" y="9553575"/>
            <a:ext cx="9296400" cy="0"/>
          </a:xfrm>
          <a:prstGeom prst="line">
            <a:avLst/>
          </a:prstGeom>
          <a:ln w="19050" cap="flat">
            <a:solidFill>
              <a:srgbClr val="833AB4"/>
            </a:solidFill>
            <a:prstDash val="solid"/>
            <a:headEnd type="none" w="sm" len="sm"/>
            <a:tailEnd type="none" w="sm" len="sm"/>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356304" y="2118492"/>
            <a:ext cx="4449587" cy="6839649"/>
            <a:chOff x="0" y="0"/>
            <a:chExt cx="5932783" cy="9119532"/>
          </a:xfrm>
        </p:grpSpPr>
        <p:sp>
          <p:nvSpPr>
            <p:cNvPr id="3" name="TextBox 3"/>
            <p:cNvSpPr txBox="1"/>
            <p:nvPr/>
          </p:nvSpPr>
          <p:spPr>
            <a:xfrm>
              <a:off x="0" y="19050"/>
              <a:ext cx="5932783" cy="577292"/>
            </a:xfrm>
            <a:prstGeom prst="rect">
              <a:avLst/>
            </a:prstGeom>
          </p:spPr>
          <p:txBody>
            <a:bodyPr lIns="0" tIns="0" rIns="0" bIns="0" rtlCol="0" anchor="t">
              <a:spAutoFit/>
            </a:bodyPr>
            <a:lstStyle/>
            <a:p>
              <a:pPr marL="0" lvl="0" indent="0" algn="l">
                <a:lnSpc>
                  <a:spcPts val="3263"/>
                </a:lnSpc>
              </a:pPr>
              <a:r>
                <a:rPr lang="en-US" sz="2967">
                  <a:solidFill>
                    <a:srgbClr val="F5F5F5"/>
                  </a:solidFill>
                  <a:latin typeface="HK Grotesk Light"/>
                  <a:ea typeface="HK Grotesk Light"/>
                  <a:cs typeface="HK Grotesk Light"/>
                  <a:sym typeface="HK Grotesk Light"/>
                </a:rPr>
                <a:t>Streamlined Search</a:t>
              </a:r>
            </a:p>
          </p:txBody>
        </p:sp>
        <p:sp>
          <p:nvSpPr>
            <p:cNvPr id="4" name="TextBox 4"/>
            <p:cNvSpPr txBox="1"/>
            <p:nvPr/>
          </p:nvSpPr>
          <p:spPr>
            <a:xfrm>
              <a:off x="0" y="880305"/>
              <a:ext cx="5932783" cy="8239227"/>
            </a:xfrm>
            <a:prstGeom prst="rect">
              <a:avLst/>
            </a:prstGeom>
          </p:spPr>
          <p:txBody>
            <a:bodyPr lIns="0" tIns="0" rIns="0" bIns="0" rtlCol="0" anchor="t">
              <a:spAutoFit/>
            </a:bodyPr>
            <a:lstStyle/>
            <a:p>
              <a:pPr marL="0" lvl="0" indent="0" algn="l">
                <a:lnSpc>
                  <a:spcPts val="2358"/>
                </a:lnSpc>
              </a:pPr>
              <a:r>
                <a:rPr lang="en-US" sz="1684">
                  <a:solidFill>
                    <a:srgbClr val="F5F5F5"/>
                  </a:solidFill>
                  <a:latin typeface="HK Grotesk Light"/>
                  <a:ea typeface="HK Grotesk Light"/>
                  <a:cs typeface="HK Grotesk Light"/>
                  <a:sym typeface="HK Grotesk Light"/>
                </a:rPr>
                <a:t>Persona: Mia Rodriguez (The Social Storyteller)</a:t>
              </a:r>
            </a:p>
            <a:p>
              <a:pPr marL="0" lvl="0" indent="0" algn="l">
                <a:lnSpc>
                  <a:spcPts val="2358"/>
                </a:lnSpc>
              </a:pPr>
              <a:endParaRPr lang="en-US" sz="1684">
                <a:solidFill>
                  <a:srgbClr val="F5F5F5"/>
                </a:solidFill>
                <a:latin typeface="HK Grotesk Light"/>
                <a:ea typeface="HK Grotesk Light"/>
                <a:cs typeface="HK Grotesk Light"/>
                <a:sym typeface="HK Grotesk Light"/>
              </a:endParaRPr>
            </a:p>
            <a:p>
              <a:pPr marL="0" lvl="0" indent="0" algn="l">
                <a:lnSpc>
                  <a:spcPts val="2358"/>
                </a:lnSpc>
              </a:pPr>
              <a:r>
                <a:rPr lang="en-US" sz="1684">
                  <a:solidFill>
                    <a:srgbClr val="F5F5F5"/>
                  </a:solidFill>
                  <a:latin typeface="HK Grotesk Light"/>
                  <a:ea typeface="HK Grotesk Light"/>
                  <a:cs typeface="HK Grotesk Light"/>
                  <a:sym typeface="HK Grotesk Light"/>
                </a:rPr>
                <a:t>User Story: </a:t>
              </a:r>
              <a:r>
                <a:rPr lang="en-US" sz="1684" b="1">
                  <a:solidFill>
                    <a:srgbClr val="F5F5F5"/>
                  </a:solidFill>
                  <a:latin typeface="HK Grotesk Bold"/>
                  <a:ea typeface="HK Grotesk Bold"/>
                  <a:cs typeface="HK Grotesk Bold"/>
                  <a:sym typeface="HK Grotesk Bold"/>
                </a:rPr>
                <a:t>As Mia, I want the search bar to be readily available on the main feed so that I can instantly look up trends, local creators, and content without interrupting my browsing flow.</a:t>
              </a:r>
            </a:p>
            <a:p>
              <a:pPr marL="0" lvl="0" indent="0" algn="l">
                <a:lnSpc>
                  <a:spcPts val="2358"/>
                </a:lnSpc>
              </a:pPr>
              <a:endParaRPr lang="en-US" sz="1684" b="1">
                <a:solidFill>
                  <a:srgbClr val="F5F5F5"/>
                </a:solidFill>
                <a:latin typeface="HK Grotesk Bold"/>
                <a:ea typeface="HK Grotesk Bold"/>
                <a:cs typeface="HK Grotesk Bold"/>
                <a:sym typeface="HK Grotesk Bold"/>
              </a:endParaRPr>
            </a:p>
            <a:p>
              <a:pPr marL="0" lvl="0" indent="0" algn="l">
                <a:lnSpc>
                  <a:spcPts val="2358"/>
                </a:lnSpc>
              </a:pPr>
              <a:r>
                <a:rPr lang="en-US" sz="1684">
                  <a:solidFill>
                    <a:srgbClr val="F5F5F5"/>
                  </a:solidFill>
                  <a:latin typeface="HK Grotesk Light"/>
                  <a:ea typeface="HK Grotesk Light"/>
                  <a:cs typeface="HK Grotesk Light"/>
                  <a:sym typeface="HK Grotesk Light"/>
                </a:rPr>
                <a:t>Benefit: This allows for quicker content discovery and engagement, helping her build her personal brand and stay up-to-date efficiently.</a:t>
              </a:r>
            </a:p>
            <a:p>
              <a:pPr marL="0" lvl="0" indent="0" algn="l">
                <a:lnSpc>
                  <a:spcPts val="2358"/>
                </a:lnSpc>
              </a:pPr>
              <a:endParaRPr lang="en-US" sz="1684">
                <a:solidFill>
                  <a:srgbClr val="F5F5F5"/>
                </a:solidFill>
                <a:latin typeface="HK Grotesk Light"/>
                <a:ea typeface="HK Grotesk Light"/>
                <a:cs typeface="HK Grotesk Light"/>
                <a:sym typeface="HK Grotesk Light"/>
              </a:endParaRPr>
            </a:p>
            <a:p>
              <a:pPr marL="0" lvl="0" indent="0" algn="l">
                <a:lnSpc>
                  <a:spcPts val="2358"/>
                </a:lnSpc>
              </a:pPr>
              <a:r>
                <a:rPr lang="en-US" sz="1684">
                  <a:solidFill>
                    <a:srgbClr val="F5F5F5"/>
                  </a:solidFill>
                  <a:latin typeface="HK Grotesk Light"/>
                  <a:ea typeface="HK Grotesk Light"/>
                  <a:cs typeface="HK Grotesk Light"/>
                  <a:sym typeface="HK Grotesk Light"/>
                </a:rPr>
                <a:t>Acceptance Criteria:</a:t>
              </a:r>
            </a:p>
            <a:p>
              <a:pPr marL="0" lvl="0" indent="0" algn="l">
                <a:lnSpc>
                  <a:spcPts val="2358"/>
                </a:lnSpc>
              </a:pPr>
              <a:r>
                <a:rPr lang="en-US" sz="1684">
                  <a:solidFill>
                    <a:srgbClr val="F5F5F5"/>
                  </a:solidFill>
                  <a:latin typeface="HK Grotesk Light"/>
                  <a:ea typeface="HK Grotesk Light"/>
                  <a:cs typeface="HK Grotesk Light"/>
                  <a:sym typeface="HK Grotesk Light"/>
                </a:rPr>
                <a:t>1. The search bar is placed at the top of the primary feed, above the Stories tray.</a:t>
              </a:r>
            </a:p>
            <a:p>
              <a:pPr marL="0" lvl="0" indent="0" algn="l">
                <a:lnSpc>
                  <a:spcPts val="2358"/>
                </a:lnSpc>
              </a:pPr>
              <a:r>
                <a:rPr lang="en-US" sz="1684">
                  <a:solidFill>
                    <a:srgbClr val="F5F5F5"/>
                  </a:solidFill>
                  <a:latin typeface="HK Grotesk Light"/>
                  <a:ea typeface="HK Grotesk Light"/>
                  <a:cs typeface="HK Grotesk Light"/>
                  <a:sym typeface="HK Grotesk Light"/>
                </a:rPr>
                <a:t>2. Tapping the search bar opens the full search interface directly.</a:t>
              </a:r>
            </a:p>
            <a:p>
              <a:pPr marL="0" lvl="0" indent="0" algn="l">
                <a:lnSpc>
                  <a:spcPts val="2358"/>
                </a:lnSpc>
              </a:pPr>
              <a:r>
                <a:rPr lang="en-US" sz="1684">
                  <a:solidFill>
                    <a:srgbClr val="F5F5F5"/>
                  </a:solidFill>
                  <a:latin typeface="HK Grotesk Light"/>
                  <a:ea typeface="HK Grotesk Light"/>
                  <a:cs typeface="HK Grotesk Light"/>
                  <a:sym typeface="HK Grotesk Light"/>
                </a:rPr>
                <a:t>3. The change does not remove any existing navigation elements from the bottom bar.</a:t>
              </a:r>
            </a:p>
            <a:p>
              <a:pPr marL="0" lvl="0" indent="0" algn="l">
                <a:lnSpc>
                  <a:spcPts val="2358"/>
                </a:lnSpc>
              </a:pPr>
              <a:endParaRPr lang="en-US" sz="1684">
                <a:solidFill>
                  <a:srgbClr val="F5F5F5"/>
                </a:solidFill>
                <a:latin typeface="HK Grotesk Light"/>
                <a:ea typeface="HK Grotesk Light"/>
                <a:cs typeface="HK Grotesk Light"/>
                <a:sym typeface="HK Grotesk Light"/>
              </a:endParaRPr>
            </a:p>
          </p:txBody>
        </p:sp>
      </p:grpSp>
      <p:grpSp>
        <p:nvGrpSpPr>
          <p:cNvPr id="5" name="Group 5"/>
          <p:cNvGrpSpPr/>
          <p:nvPr/>
        </p:nvGrpSpPr>
        <p:grpSpPr>
          <a:xfrm>
            <a:off x="13083117" y="2184699"/>
            <a:ext cx="4807304" cy="6839649"/>
            <a:chOff x="0" y="0"/>
            <a:chExt cx="6409739" cy="9119532"/>
          </a:xfrm>
        </p:grpSpPr>
        <p:sp>
          <p:nvSpPr>
            <p:cNvPr id="6" name="TextBox 6"/>
            <p:cNvSpPr txBox="1"/>
            <p:nvPr/>
          </p:nvSpPr>
          <p:spPr>
            <a:xfrm>
              <a:off x="0" y="19050"/>
              <a:ext cx="6409739" cy="577292"/>
            </a:xfrm>
            <a:prstGeom prst="rect">
              <a:avLst/>
            </a:prstGeom>
          </p:spPr>
          <p:txBody>
            <a:bodyPr lIns="0" tIns="0" rIns="0" bIns="0" rtlCol="0" anchor="t">
              <a:spAutoFit/>
            </a:bodyPr>
            <a:lstStyle/>
            <a:p>
              <a:pPr marL="0" lvl="0" indent="0" algn="l">
                <a:lnSpc>
                  <a:spcPts val="3263"/>
                </a:lnSpc>
              </a:pPr>
              <a:r>
                <a:rPr lang="en-US" sz="2967">
                  <a:solidFill>
                    <a:srgbClr val="F5F5F5"/>
                  </a:solidFill>
                  <a:latin typeface="HK Grotesk Light"/>
                  <a:ea typeface="HK Grotesk Light"/>
                  <a:cs typeface="HK Grotesk Light"/>
                  <a:sym typeface="HK Grotesk Light"/>
                </a:rPr>
                <a:t> Focused Social Connection</a:t>
              </a:r>
            </a:p>
          </p:txBody>
        </p:sp>
        <p:sp>
          <p:nvSpPr>
            <p:cNvPr id="7" name="TextBox 7"/>
            <p:cNvSpPr txBox="1"/>
            <p:nvPr/>
          </p:nvSpPr>
          <p:spPr>
            <a:xfrm>
              <a:off x="0" y="880305"/>
              <a:ext cx="6409739" cy="8239227"/>
            </a:xfrm>
            <a:prstGeom prst="rect">
              <a:avLst/>
            </a:prstGeom>
          </p:spPr>
          <p:txBody>
            <a:bodyPr lIns="0" tIns="0" rIns="0" bIns="0" rtlCol="0" anchor="t">
              <a:spAutoFit/>
            </a:bodyPr>
            <a:lstStyle/>
            <a:p>
              <a:pPr marL="0" lvl="0" indent="0" algn="l">
                <a:lnSpc>
                  <a:spcPts val="2358"/>
                </a:lnSpc>
              </a:pPr>
              <a:r>
                <a:rPr lang="en-US" sz="1684">
                  <a:solidFill>
                    <a:srgbClr val="F5F5F5"/>
                  </a:solidFill>
                  <a:latin typeface="HK Grotesk Light"/>
                  <a:ea typeface="HK Grotesk Light"/>
                  <a:cs typeface="HK Grotesk Light"/>
                  <a:sym typeface="HK Grotesk Light"/>
                </a:rPr>
                <a:t>Persona: Ron Johnson (The Casual Browser)</a:t>
              </a:r>
            </a:p>
            <a:p>
              <a:pPr marL="0" lvl="0" indent="0" algn="l">
                <a:lnSpc>
                  <a:spcPts val="2358"/>
                </a:lnSpc>
              </a:pPr>
              <a:endParaRPr lang="en-US" sz="1684">
                <a:solidFill>
                  <a:srgbClr val="F5F5F5"/>
                </a:solidFill>
                <a:latin typeface="HK Grotesk Light"/>
                <a:ea typeface="HK Grotesk Light"/>
                <a:cs typeface="HK Grotesk Light"/>
                <a:sym typeface="HK Grotesk Light"/>
              </a:endParaRPr>
            </a:p>
            <a:p>
              <a:pPr marL="0" lvl="0" indent="0" algn="l">
                <a:lnSpc>
                  <a:spcPts val="2358"/>
                </a:lnSpc>
              </a:pPr>
              <a:r>
                <a:rPr lang="en-US" sz="1684">
                  <a:solidFill>
                    <a:srgbClr val="F5F5F5"/>
                  </a:solidFill>
                  <a:latin typeface="HK Grotesk Light"/>
                  <a:ea typeface="HK Grotesk Light"/>
                  <a:cs typeface="HK Grotesk Light"/>
                  <a:sym typeface="HK Grotesk Light"/>
                </a:rPr>
                <a:t>User Story: </a:t>
              </a:r>
              <a:r>
                <a:rPr lang="en-US" sz="1684" b="1">
                  <a:solidFill>
                    <a:srgbClr val="F5F5F5"/>
                  </a:solidFill>
                  <a:latin typeface="HK Grotesk Bold"/>
                  <a:ea typeface="HK Grotesk Bold"/>
                  <a:cs typeface="HK Grotesk Bold"/>
                  <a:sym typeface="HK Grotesk Bold"/>
                </a:rPr>
                <a:t>As Ron, I want my messages and friend activity grouped on a dedicated</a:t>
              </a:r>
            </a:p>
            <a:p>
              <a:pPr marL="0" lvl="0" indent="0" algn="l">
                <a:lnSpc>
                  <a:spcPts val="2358"/>
                </a:lnSpc>
              </a:pPr>
              <a:r>
                <a:rPr lang="en-US" sz="1684" b="1">
                  <a:solidFill>
                    <a:srgbClr val="F5F5F5"/>
                  </a:solidFill>
                  <a:latin typeface="HK Grotesk Bold"/>
                  <a:ea typeface="HK Grotesk Bold"/>
                  <a:cs typeface="HK Grotesk Bold"/>
                  <a:sym typeface="HK Grotesk Bold"/>
                </a:rPr>
                <a:t>screen, replacing the shopping tab, so that I can focus on connecting with friends without</a:t>
              </a:r>
            </a:p>
            <a:p>
              <a:pPr marL="0" lvl="0" indent="0" algn="l">
                <a:lnSpc>
                  <a:spcPts val="2358"/>
                </a:lnSpc>
              </a:pPr>
              <a:r>
                <a:rPr lang="en-US" sz="1684" b="1">
                  <a:solidFill>
                    <a:srgbClr val="F5F5F5"/>
                  </a:solidFill>
                  <a:latin typeface="HK Grotesk Bold"/>
                  <a:ea typeface="HK Grotesk Bold"/>
                  <a:cs typeface="HK Grotesk Bold"/>
                  <a:sym typeface="HK Grotesk Bold"/>
                </a:rPr>
                <a:t>commercial distractions.</a:t>
              </a:r>
            </a:p>
            <a:p>
              <a:pPr marL="0" lvl="0" indent="0" algn="l">
                <a:lnSpc>
                  <a:spcPts val="2358"/>
                </a:lnSpc>
              </a:pPr>
              <a:endParaRPr lang="en-US" sz="1684" b="1">
                <a:solidFill>
                  <a:srgbClr val="F5F5F5"/>
                </a:solidFill>
                <a:latin typeface="HK Grotesk Bold"/>
                <a:ea typeface="HK Grotesk Bold"/>
                <a:cs typeface="HK Grotesk Bold"/>
                <a:sym typeface="HK Grotesk Bold"/>
              </a:endParaRPr>
            </a:p>
            <a:p>
              <a:pPr marL="0" lvl="0" indent="0" algn="l">
                <a:lnSpc>
                  <a:spcPts val="2358"/>
                </a:lnSpc>
              </a:pPr>
              <a:r>
                <a:rPr lang="en-US" sz="1684">
                  <a:solidFill>
                    <a:srgbClr val="F5F5F5"/>
                  </a:solidFill>
                  <a:latin typeface="HK Grotesk Light"/>
                  <a:ea typeface="HK Grotesk Light"/>
                  <a:cs typeface="HK Grotesk Light"/>
                  <a:sym typeface="HK Grotesk Light"/>
                </a:rPr>
                <a:t>Benefit: This creates a less distracting, more intentional browsing atmosphere that aligns</a:t>
              </a:r>
            </a:p>
            <a:p>
              <a:pPr marL="0" lvl="0" indent="0" algn="l">
                <a:lnSpc>
                  <a:spcPts val="2358"/>
                </a:lnSpc>
              </a:pPr>
              <a:r>
                <a:rPr lang="en-US" sz="1684">
                  <a:solidFill>
                    <a:srgbClr val="F5F5F5"/>
                  </a:solidFill>
                  <a:latin typeface="HK Grotesk Light"/>
                  <a:ea typeface="HK Grotesk Light"/>
                  <a:cs typeface="HK Grotesk Light"/>
                  <a:sym typeface="HK Grotesk Light"/>
                </a:rPr>
                <a:t>with his goal of avoiding information overload.</a:t>
              </a:r>
            </a:p>
            <a:p>
              <a:pPr marL="0" lvl="0" indent="0" algn="l">
                <a:lnSpc>
                  <a:spcPts val="2358"/>
                </a:lnSpc>
              </a:pPr>
              <a:endParaRPr lang="en-US" sz="1684">
                <a:solidFill>
                  <a:srgbClr val="F5F5F5"/>
                </a:solidFill>
                <a:latin typeface="HK Grotesk Light"/>
                <a:ea typeface="HK Grotesk Light"/>
                <a:cs typeface="HK Grotesk Light"/>
                <a:sym typeface="HK Grotesk Light"/>
              </a:endParaRPr>
            </a:p>
            <a:p>
              <a:pPr marL="0" lvl="0" indent="0" algn="l">
                <a:lnSpc>
                  <a:spcPts val="2358"/>
                </a:lnSpc>
              </a:pPr>
              <a:r>
                <a:rPr lang="en-US" sz="1684">
                  <a:solidFill>
                    <a:srgbClr val="F5F5F5"/>
                  </a:solidFill>
                  <a:latin typeface="HK Grotesk Light"/>
                  <a:ea typeface="HK Grotesk Light"/>
                  <a:cs typeface="HK Grotesk Light"/>
                  <a:sym typeface="HK Grotesk Light"/>
                </a:rPr>
                <a:t>Acceptance Criteria:</a:t>
              </a:r>
            </a:p>
            <a:p>
              <a:pPr marL="0" lvl="0" indent="0" algn="l">
                <a:lnSpc>
                  <a:spcPts val="2358"/>
                </a:lnSpc>
              </a:pPr>
              <a:r>
                <a:rPr lang="en-US" sz="1684">
                  <a:solidFill>
                    <a:srgbClr val="F5F5F5"/>
                  </a:solidFill>
                  <a:latin typeface="HK Grotesk Light"/>
                  <a:ea typeface="HK Grotesk Light"/>
                  <a:cs typeface="HK Grotesk Light"/>
                  <a:sym typeface="HK Grotesk Light"/>
                </a:rPr>
                <a:t>1. The second tab in the bottom navigation is re-labeled and re-skinned to "Chats."</a:t>
              </a:r>
            </a:p>
            <a:p>
              <a:pPr marL="0" lvl="0" indent="0" algn="l">
                <a:lnSpc>
                  <a:spcPts val="2358"/>
                </a:lnSpc>
              </a:pPr>
              <a:r>
                <a:rPr lang="en-US" sz="1684">
                  <a:solidFill>
                    <a:srgbClr val="F5F5F5"/>
                  </a:solidFill>
                  <a:latin typeface="HK Grotesk Light"/>
                  <a:ea typeface="HK Grotesk Light"/>
                  <a:cs typeface="HK Grotesk Light"/>
                  <a:sym typeface="HK Grotesk Light"/>
                </a:rPr>
                <a:t>2. Tapping the "Chats" tab reveals a unified view of direct messages and friend</a:t>
              </a:r>
            </a:p>
            <a:p>
              <a:pPr marL="0" lvl="0" indent="0" algn="l">
                <a:lnSpc>
                  <a:spcPts val="2358"/>
                </a:lnSpc>
              </a:pPr>
              <a:r>
                <a:rPr lang="en-US" sz="1684">
                  <a:solidFill>
                    <a:srgbClr val="F5F5F5"/>
                  </a:solidFill>
                  <a:latin typeface="HK Grotesk Light"/>
                  <a:ea typeface="HK Grotesk Light"/>
                  <a:cs typeface="HK Grotesk Light"/>
                  <a:sym typeface="HK Grotesk Light"/>
                </a:rPr>
                <a:t>activity/notifications.</a:t>
              </a:r>
            </a:p>
            <a:p>
              <a:pPr marL="0" lvl="0" indent="0" algn="l">
                <a:lnSpc>
                  <a:spcPts val="2358"/>
                </a:lnSpc>
              </a:pPr>
              <a:r>
                <a:rPr lang="en-US" sz="1684">
                  <a:solidFill>
                    <a:srgbClr val="F5F5F5"/>
                  </a:solidFill>
                  <a:latin typeface="HK Grotesk Light"/>
                  <a:ea typeface="HK Grotesk Light"/>
                  <a:cs typeface="HK Grotesk Light"/>
                  <a:sym typeface="HK Grotesk Light"/>
                </a:rPr>
                <a:t>3. The shopping tab is removed from the main bottom navigation bar.</a:t>
              </a:r>
            </a:p>
            <a:p>
              <a:pPr marL="0" lvl="0" indent="0" algn="l">
                <a:lnSpc>
                  <a:spcPts val="2358"/>
                </a:lnSpc>
              </a:pPr>
              <a:endParaRPr lang="en-US" sz="1684">
                <a:solidFill>
                  <a:srgbClr val="F5F5F5"/>
                </a:solidFill>
                <a:latin typeface="HK Grotesk Light"/>
                <a:ea typeface="HK Grotesk Light"/>
                <a:cs typeface="HK Grotesk Light"/>
                <a:sym typeface="HK Grotesk Light"/>
              </a:endParaRPr>
            </a:p>
          </p:txBody>
        </p:sp>
      </p:grpSp>
      <p:grpSp>
        <p:nvGrpSpPr>
          <p:cNvPr id="8" name="Group 8"/>
          <p:cNvGrpSpPr/>
          <p:nvPr/>
        </p:nvGrpSpPr>
        <p:grpSpPr>
          <a:xfrm>
            <a:off x="5367338" y="0"/>
            <a:ext cx="7553325" cy="10287000"/>
            <a:chOff x="0" y="0"/>
            <a:chExt cx="1170208" cy="1593725"/>
          </a:xfrm>
        </p:grpSpPr>
        <p:sp>
          <p:nvSpPr>
            <p:cNvPr id="9" name="Freeform 9"/>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66C4">
                <a:alpha val="100000"/>
              </a:srgbClr>
            </a:gs>
            <a:gs pos="100000">
              <a:srgbClr val="FFDE59">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75372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grpSp>
        <p:nvGrpSpPr>
          <p:cNvPr id="4" name="Group 4"/>
          <p:cNvGrpSpPr/>
          <p:nvPr/>
        </p:nvGrpSpPr>
        <p:grpSpPr>
          <a:xfrm>
            <a:off x="184150" y="266700"/>
            <a:ext cx="10569575" cy="4554960"/>
            <a:chOff x="0" y="0"/>
            <a:chExt cx="14092767" cy="6073280"/>
          </a:xfrm>
        </p:grpSpPr>
        <p:sp>
          <p:nvSpPr>
            <p:cNvPr id="5" name="TextBox 5"/>
            <p:cNvSpPr txBox="1"/>
            <p:nvPr/>
          </p:nvSpPr>
          <p:spPr>
            <a:xfrm>
              <a:off x="0" y="9525"/>
              <a:ext cx="14092767" cy="364949"/>
            </a:xfrm>
            <a:prstGeom prst="rect">
              <a:avLst/>
            </a:prstGeom>
          </p:spPr>
          <p:txBody>
            <a:bodyPr lIns="0" tIns="0" rIns="0" bIns="0" rtlCol="0" anchor="t">
              <a:spAutoFit/>
            </a:bodyPr>
            <a:lstStyle/>
            <a:p>
              <a:pPr marL="0" lvl="0" indent="0" algn="l">
                <a:lnSpc>
                  <a:spcPts val="2051"/>
                </a:lnSpc>
              </a:pPr>
              <a:r>
                <a:rPr lang="en-US" sz="1864" b="1">
                  <a:solidFill>
                    <a:srgbClr val="F5F5F5"/>
                  </a:solidFill>
                  <a:latin typeface="HK Grotesk Bold"/>
                  <a:ea typeface="HK Grotesk Bold"/>
                  <a:cs typeface="HK Grotesk Bold"/>
                  <a:sym typeface="HK Grotesk Bold"/>
                </a:rPr>
                <a:t>Mindful Scrolling Aid</a:t>
              </a:r>
            </a:p>
          </p:txBody>
        </p:sp>
        <p:sp>
          <p:nvSpPr>
            <p:cNvPr id="6" name="TextBox 6"/>
            <p:cNvSpPr txBox="1"/>
            <p:nvPr/>
          </p:nvSpPr>
          <p:spPr>
            <a:xfrm>
              <a:off x="0" y="747672"/>
              <a:ext cx="14092767" cy="5325609"/>
            </a:xfrm>
            <a:prstGeom prst="rect">
              <a:avLst/>
            </a:prstGeom>
          </p:spPr>
          <p:txBody>
            <a:bodyPr lIns="0" tIns="0" rIns="0" bIns="0" rtlCol="0" anchor="t">
              <a:spAutoFit/>
            </a:bodyPr>
            <a:lstStyle/>
            <a:p>
              <a:pPr marL="0" lvl="0" indent="0" algn="l">
                <a:lnSpc>
                  <a:spcPts val="2315"/>
                </a:lnSpc>
              </a:pPr>
              <a:r>
                <a:rPr lang="en-US" sz="1654">
                  <a:solidFill>
                    <a:srgbClr val="F5F5F5"/>
                  </a:solidFill>
                  <a:latin typeface="HK Grotesk"/>
                  <a:ea typeface="HK Grotesk"/>
                  <a:cs typeface="HK Grotesk"/>
                  <a:sym typeface="HK Grotesk"/>
                </a:rPr>
                <a:t>Persona: Ron Johnson (The Casual Browser)</a:t>
              </a:r>
            </a:p>
            <a:p>
              <a:pPr marL="0" lvl="0" indent="0" algn="l">
                <a:lnSpc>
                  <a:spcPts val="2315"/>
                </a:lnSpc>
              </a:pPr>
              <a:endParaRPr lang="en-US" sz="1654">
                <a:solidFill>
                  <a:srgbClr val="F5F5F5"/>
                </a:solidFill>
                <a:latin typeface="HK Grotesk"/>
                <a:ea typeface="HK Grotesk"/>
                <a:cs typeface="HK Grotesk"/>
                <a:sym typeface="HK Grotesk"/>
              </a:endParaRPr>
            </a:p>
            <a:p>
              <a:pPr marL="0" lvl="0" indent="0" algn="l">
                <a:lnSpc>
                  <a:spcPts val="2315"/>
                </a:lnSpc>
              </a:pPr>
              <a:r>
                <a:rPr lang="en-US" sz="1654">
                  <a:solidFill>
                    <a:srgbClr val="F5F5F5"/>
                  </a:solidFill>
                  <a:latin typeface="HK Grotesk"/>
                  <a:ea typeface="HK Grotesk"/>
                  <a:cs typeface="HK Grotesk"/>
                  <a:sym typeface="HK Grotesk"/>
                </a:rPr>
                <a:t>User Story: </a:t>
              </a:r>
              <a:r>
                <a:rPr lang="en-US" sz="1654" b="1">
                  <a:solidFill>
                    <a:srgbClr val="F5F5F5"/>
                  </a:solidFill>
                  <a:latin typeface="HK Grotesk Bold"/>
                  <a:ea typeface="HK Grotesk Bold"/>
                  <a:cs typeface="HK Grotesk Bold"/>
                  <a:sym typeface="HK Grotesk Bold"/>
                </a:rPr>
                <a:t>As Ron, I want to set a scrolling timer with break reminders so that I can consciously manage my time on the app and prevent unintentional, endless scrolling.</a:t>
              </a:r>
            </a:p>
            <a:p>
              <a:pPr marL="0" lvl="0" indent="0" algn="l">
                <a:lnSpc>
                  <a:spcPts val="2315"/>
                </a:lnSpc>
              </a:pPr>
              <a:endParaRPr lang="en-US" sz="1654" b="1">
                <a:solidFill>
                  <a:srgbClr val="F5F5F5"/>
                </a:solidFill>
                <a:latin typeface="HK Grotesk Bold"/>
                <a:ea typeface="HK Grotesk Bold"/>
                <a:cs typeface="HK Grotesk Bold"/>
                <a:sym typeface="HK Grotesk Bold"/>
              </a:endParaRPr>
            </a:p>
            <a:p>
              <a:pPr algn="l">
                <a:lnSpc>
                  <a:spcPts val="2315"/>
                </a:lnSpc>
              </a:pPr>
              <a:r>
                <a:rPr lang="en-US" sz="1654">
                  <a:solidFill>
                    <a:srgbClr val="F5F5F5"/>
                  </a:solidFill>
                  <a:latin typeface="HK Grotesk"/>
                  <a:ea typeface="HK Grotesk"/>
                  <a:cs typeface="HK Grotesk"/>
                  <a:sym typeface="HK Grotesk"/>
                </a:rPr>
                <a:t>Benefit: This promotes a relaxed, low-effort experience by helping him avoid time-wasting and maintain control over his social media usage.</a:t>
              </a:r>
            </a:p>
            <a:p>
              <a:pPr marL="0" lvl="0" indent="0" algn="l">
                <a:lnSpc>
                  <a:spcPts val="2315"/>
                </a:lnSpc>
              </a:pPr>
              <a:endParaRPr lang="en-US" sz="1654">
                <a:solidFill>
                  <a:srgbClr val="F5F5F5"/>
                </a:solidFill>
                <a:latin typeface="HK Grotesk"/>
                <a:ea typeface="HK Grotesk"/>
                <a:cs typeface="HK Grotesk"/>
                <a:sym typeface="HK Grotesk"/>
              </a:endParaRPr>
            </a:p>
            <a:p>
              <a:pPr marL="357103" lvl="1" indent="-178551" algn="l">
                <a:lnSpc>
                  <a:spcPts val="2315"/>
                </a:lnSpc>
                <a:buFont typeface="Arial"/>
                <a:buChar char="•"/>
              </a:pPr>
              <a:r>
                <a:rPr lang="en-US" sz="1654">
                  <a:solidFill>
                    <a:srgbClr val="F5F5F5"/>
                  </a:solidFill>
                  <a:latin typeface="HK Grotesk"/>
                  <a:ea typeface="HK Grotesk"/>
                  <a:cs typeface="HK Grotesk"/>
                  <a:sym typeface="HK Grotesk"/>
                </a:rPr>
                <a:t>Acceptance Criteria:</a:t>
              </a:r>
            </a:p>
            <a:p>
              <a:pPr marL="0" lvl="0" indent="0" algn="l">
                <a:lnSpc>
                  <a:spcPts val="2315"/>
                </a:lnSpc>
              </a:pPr>
              <a:r>
                <a:rPr lang="en-US" sz="1654">
                  <a:solidFill>
                    <a:srgbClr val="F5F5F5"/>
                  </a:solidFill>
                  <a:latin typeface="HK Grotesk"/>
                  <a:ea typeface="HK Grotesk"/>
                  <a:cs typeface="HK Grotesk"/>
                  <a:sym typeface="HK Grotesk"/>
                </a:rPr>
                <a:t> 1.  A "Scrolling Timer" menu is added within the main Settings page.</a:t>
              </a:r>
            </a:p>
            <a:p>
              <a:pPr marL="0" lvl="0" indent="0" algn="l">
                <a:lnSpc>
                  <a:spcPts val="2315"/>
                </a:lnSpc>
              </a:pPr>
              <a:r>
                <a:rPr lang="en-US" sz="1654">
                  <a:solidFill>
                    <a:srgbClr val="F5F5F5"/>
                  </a:solidFill>
                  <a:latin typeface="HK Grotesk"/>
                  <a:ea typeface="HK Grotesk"/>
                  <a:cs typeface="HK Grotesk"/>
                  <a:sym typeface="HK Grotesk"/>
                </a:rPr>
                <a:t> 2. The user can set a session duration (e.g., 15, 30, 45 minutes).        </a:t>
              </a:r>
            </a:p>
            <a:p>
              <a:pPr marL="0" lvl="0" indent="0" algn="l">
                <a:lnSpc>
                  <a:spcPts val="2315"/>
                </a:lnSpc>
              </a:pPr>
              <a:r>
                <a:rPr lang="en-US" sz="1654">
                  <a:solidFill>
                    <a:srgbClr val="F5F5F5"/>
                  </a:solidFill>
                  <a:latin typeface="HK Grotesk"/>
                  <a:ea typeface="HK Grotesk"/>
                  <a:cs typeface="HK Grotesk"/>
                  <a:sym typeface="HK Grotesk"/>
                </a:rPr>
                <a:t> 3. Upon timer expiration, a gentle, non-dismissible full-screen reminder appears,</a:t>
              </a:r>
            </a:p>
            <a:p>
              <a:pPr marL="0" lvl="0" indent="0" algn="l">
                <a:lnSpc>
                  <a:spcPts val="2315"/>
                </a:lnSpc>
              </a:pPr>
              <a:r>
                <a:rPr lang="en-US" sz="1654">
                  <a:solidFill>
                    <a:srgbClr val="F5F5F5"/>
                  </a:solidFill>
                  <a:latin typeface="HK Grotesk"/>
                  <a:ea typeface="HK Grotesk"/>
                  <a:cs typeface="HK Grotesk"/>
                  <a:sym typeface="HK Grotesk"/>
                </a:rPr>
                <a:t> encouraging the user to take a break.</a:t>
              </a:r>
            </a:p>
            <a:p>
              <a:pPr marL="0" lvl="0" indent="0" algn="l">
                <a:lnSpc>
                  <a:spcPts val="2315"/>
                </a:lnSpc>
              </a:pPr>
              <a:endParaRPr lang="en-US" sz="1654">
                <a:solidFill>
                  <a:srgbClr val="F5F5F5"/>
                </a:solidFill>
                <a:latin typeface="HK Grotesk"/>
                <a:ea typeface="HK Grotesk"/>
                <a:cs typeface="HK Grotesk"/>
                <a:sym typeface="HK Grotesk"/>
              </a:endParaRPr>
            </a:p>
          </p:txBody>
        </p:sp>
      </p:grpSp>
      <p:grpSp>
        <p:nvGrpSpPr>
          <p:cNvPr id="7" name="Group 7"/>
          <p:cNvGrpSpPr/>
          <p:nvPr/>
        </p:nvGrpSpPr>
        <p:grpSpPr>
          <a:xfrm>
            <a:off x="184150" y="4992704"/>
            <a:ext cx="10569575" cy="5138496"/>
            <a:chOff x="0" y="0"/>
            <a:chExt cx="14092767" cy="6851328"/>
          </a:xfrm>
        </p:grpSpPr>
        <p:sp>
          <p:nvSpPr>
            <p:cNvPr id="8" name="TextBox 8"/>
            <p:cNvSpPr txBox="1"/>
            <p:nvPr/>
          </p:nvSpPr>
          <p:spPr>
            <a:xfrm>
              <a:off x="0" y="9525"/>
              <a:ext cx="14092767" cy="364871"/>
            </a:xfrm>
            <a:prstGeom prst="rect">
              <a:avLst/>
            </a:prstGeom>
          </p:spPr>
          <p:txBody>
            <a:bodyPr lIns="0" tIns="0" rIns="0" bIns="0" rtlCol="0" anchor="t">
              <a:spAutoFit/>
            </a:bodyPr>
            <a:lstStyle/>
            <a:p>
              <a:pPr marL="0" lvl="0" indent="0" algn="l">
                <a:lnSpc>
                  <a:spcPts val="2046"/>
                </a:lnSpc>
              </a:pPr>
              <a:r>
                <a:rPr lang="en-US" sz="1860" b="1">
                  <a:solidFill>
                    <a:srgbClr val="F5F5F5"/>
                  </a:solidFill>
                  <a:latin typeface="HK Grotesk Bold"/>
                  <a:ea typeface="HK Grotesk Bold"/>
                  <a:cs typeface="HK Grotesk Bold"/>
                  <a:sym typeface="HK Grotesk Bold"/>
                </a:rPr>
                <a:t>Automated Post Organization</a:t>
              </a:r>
            </a:p>
          </p:txBody>
        </p:sp>
        <p:sp>
          <p:nvSpPr>
            <p:cNvPr id="9" name="TextBox 9"/>
            <p:cNvSpPr txBox="1"/>
            <p:nvPr/>
          </p:nvSpPr>
          <p:spPr>
            <a:xfrm>
              <a:off x="0" y="763583"/>
              <a:ext cx="14092767" cy="6087745"/>
            </a:xfrm>
            <a:prstGeom prst="rect">
              <a:avLst/>
            </a:prstGeom>
          </p:spPr>
          <p:txBody>
            <a:bodyPr lIns="0" tIns="0" rIns="0" bIns="0" rtlCol="0" anchor="t">
              <a:spAutoFit/>
            </a:bodyPr>
            <a:lstStyle/>
            <a:p>
              <a:pPr marL="0" lvl="0" indent="0" algn="l">
                <a:lnSpc>
                  <a:spcPts val="2310"/>
                </a:lnSpc>
              </a:pPr>
              <a:r>
                <a:rPr lang="en-US" sz="1650">
                  <a:solidFill>
                    <a:srgbClr val="F5F5F5"/>
                  </a:solidFill>
                  <a:latin typeface="HK Grotesk Light"/>
                  <a:ea typeface="HK Grotesk Light"/>
                  <a:cs typeface="HK Grotesk Light"/>
                  <a:sym typeface="HK Grotesk Light"/>
                </a:rPr>
                <a:t>Persona: Mia Rodriguez (The Social Storyteller)</a:t>
              </a:r>
            </a:p>
            <a:p>
              <a:pPr marL="0" lvl="0" indent="0" algn="l">
                <a:lnSpc>
                  <a:spcPts val="2310"/>
                </a:lnSpc>
              </a:pPr>
              <a:endParaRPr lang="en-US" sz="1650">
                <a:solidFill>
                  <a:srgbClr val="F5F5F5"/>
                </a:solidFill>
                <a:latin typeface="HK Grotesk Light"/>
                <a:ea typeface="HK Grotesk Light"/>
                <a:cs typeface="HK Grotesk Light"/>
                <a:sym typeface="HK Grotesk Light"/>
              </a:endParaRPr>
            </a:p>
            <a:p>
              <a:pPr marL="0" lvl="0" indent="0" algn="l">
                <a:lnSpc>
                  <a:spcPts val="2310"/>
                </a:lnSpc>
              </a:pPr>
              <a:r>
                <a:rPr lang="en-US" sz="1650">
                  <a:solidFill>
                    <a:srgbClr val="F5F5F5"/>
                  </a:solidFill>
                  <a:latin typeface="HK Grotesk Light"/>
                  <a:ea typeface="HK Grotesk Light"/>
                  <a:cs typeface="HK Grotesk Light"/>
                  <a:sym typeface="HK Grotesk Light"/>
                </a:rPr>
                <a:t>User Story:</a:t>
              </a:r>
              <a:r>
                <a:rPr lang="en-US" sz="1650" b="1">
                  <a:solidFill>
                    <a:srgbClr val="F5F5F5"/>
                  </a:solidFill>
                  <a:latin typeface="HK Grotesk Bold"/>
                  <a:ea typeface="HK Grotesk Bold"/>
                  <a:cs typeface="HK Grotesk Bold"/>
                  <a:sym typeface="HK Grotesk Bold"/>
                </a:rPr>
                <a:t> As Mia, I want my saved posts to be automatically organized into thematic</a:t>
              </a:r>
            </a:p>
            <a:p>
              <a:pPr marL="0" lvl="0" indent="0" algn="l">
                <a:lnSpc>
                  <a:spcPts val="2310"/>
                </a:lnSpc>
              </a:pPr>
              <a:r>
                <a:rPr lang="en-US" sz="1650" b="1">
                  <a:solidFill>
                    <a:srgbClr val="F5F5F5"/>
                  </a:solidFill>
                  <a:latin typeface="HK Grotesk Bold"/>
                  <a:ea typeface="HK Grotesk Bold"/>
                  <a:cs typeface="HK Grotesk Bold"/>
                  <a:sym typeface="HK Grotesk Bold"/>
                </a:rPr>
                <a:t>folders using AI so that I can quickly find inspiration for my content (e.g., travel, food,</a:t>
              </a:r>
            </a:p>
            <a:p>
              <a:pPr marL="0" lvl="0" indent="0" algn="l">
                <a:lnSpc>
                  <a:spcPts val="2310"/>
                </a:lnSpc>
              </a:pPr>
              <a:r>
                <a:rPr lang="en-US" sz="1650" b="1">
                  <a:solidFill>
                    <a:srgbClr val="F5F5F5"/>
                  </a:solidFill>
                  <a:latin typeface="HK Grotesk Bold"/>
                  <a:ea typeface="HK Grotesk Bold"/>
                  <a:cs typeface="HK Grotesk Bold"/>
                  <a:sym typeface="HK Grotesk Bold"/>
                </a:rPr>
                <a:t>outfits) without manual sorting.</a:t>
              </a:r>
            </a:p>
            <a:p>
              <a:pPr marL="0" lvl="0" indent="0" algn="l">
                <a:lnSpc>
                  <a:spcPts val="2310"/>
                </a:lnSpc>
              </a:pPr>
              <a:endParaRPr lang="en-US" sz="1650" b="1">
                <a:solidFill>
                  <a:srgbClr val="F5F5F5"/>
                </a:solidFill>
                <a:latin typeface="HK Grotesk Bold"/>
                <a:ea typeface="HK Grotesk Bold"/>
                <a:cs typeface="HK Grotesk Bold"/>
                <a:sym typeface="HK Grotesk Bold"/>
              </a:endParaRPr>
            </a:p>
            <a:p>
              <a:pPr marL="356235" lvl="1" indent="-178118" algn="l">
                <a:lnSpc>
                  <a:spcPts val="2310"/>
                </a:lnSpc>
                <a:buFont typeface="Arial"/>
                <a:buChar char="•"/>
              </a:pPr>
              <a:r>
                <a:rPr lang="en-US" sz="1650">
                  <a:solidFill>
                    <a:srgbClr val="F5F5F5"/>
                  </a:solidFill>
                  <a:latin typeface="HK Grotesk Light"/>
                  <a:ea typeface="HK Grotesk Light"/>
                  <a:cs typeface="HK Grotesk Light"/>
                  <a:sym typeface="HK Grotesk Light"/>
                </a:rPr>
                <a:t>Benefit: This saves time and enhances her ability to curate content for her personal</a:t>
              </a:r>
            </a:p>
            <a:p>
              <a:pPr marL="0" lvl="0" indent="0" algn="l">
                <a:lnSpc>
                  <a:spcPts val="2310"/>
                </a:lnSpc>
              </a:pPr>
              <a:r>
                <a:rPr lang="en-US" sz="1650">
                  <a:solidFill>
                    <a:srgbClr val="F5F5F5"/>
                  </a:solidFill>
                  <a:latin typeface="HK Grotesk Light"/>
                  <a:ea typeface="HK Grotesk Light"/>
                  <a:cs typeface="HK Grotesk Light"/>
                  <a:sym typeface="HK Grotesk Light"/>
                </a:rPr>
                <a:t>brand, making her content creation process more efficient.</a:t>
              </a:r>
            </a:p>
            <a:p>
              <a:pPr marL="0" lvl="0" indent="0" algn="l">
                <a:lnSpc>
                  <a:spcPts val="2310"/>
                </a:lnSpc>
              </a:pPr>
              <a:endParaRPr lang="en-US" sz="1650">
                <a:solidFill>
                  <a:srgbClr val="F5F5F5"/>
                </a:solidFill>
                <a:latin typeface="HK Grotesk Light"/>
                <a:ea typeface="HK Grotesk Light"/>
                <a:cs typeface="HK Grotesk Light"/>
                <a:sym typeface="HK Grotesk Light"/>
              </a:endParaRPr>
            </a:p>
            <a:p>
              <a:pPr marL="356235" lvl="1" indent="-178118" algn="l">
                <a:lnSpc>
                  <a:spcPts val="2310"/>
                </a:lnSpc>
                <a:buFont typeface="Arial"/>
                <a:buChar char="•"/>
              </a:pPr>
              <a:r>
                <a:rPr lang="en-US" sz="1650">
                  <a:solidFill>
                    <a:srgbClr val="F5F5F5"/>
                  </a:solidFill>
                  <a:latin typeface="HK Grotesk Light"/>
                  <a:ea typeface="HK Grotesk Light"/>
                  <a:cs typeface="HK Grotesk Light"/>
                  <a:sym typeface="HK Grotesk Light"/>
                </a:rPr>
                <a:t>Acceptance Criteria:</a:t>
              </a:r>
            </a:p>
            <a:p>
              <a:pPr marL="356235" lvl="1" indent="-178118" algn="l">
                <a:lnSpc>
                  <a:spcPts val="2310"/>
                </a:lnSpc>
                <a:buAutoNum type="arabicPeriod"/>
              </a:pPr>
              <a:r>
                <a:rPr lang="en-US" sz="1650">
                  <a:solidFill>
                    <a:srgbClr val="F5F5F5"/>
                  </a:solidFill>
                  <a:latin typeface="HK Grotesk Light"/>
                  <a:ea typeface="HK Grotesk Light"/>
                  <a:cs typeface="HK Grotesk Light"/>
                  <a:sym typeface="HK Grotesk Light"/>
                </a:rPr>
                <a:t> A new "Auto-categorize" feature is introduced in the "Saved Posts" section.</a:t>
              </a:r>
            </a:p>
            <a:p>
              <a:pPr marL="0" lvl="0" indent="0" algn="l">
                <a:lnSpc>
                  <a:spcPts val="2310"/>
                </a:lnSpc>
              </a:pPr>
              <a:r>
                <a:rPr lang="en-US" sz="1650">
                  <a:solidFill>
                    <a:srgbClr val="F5F5F5"/>
                  </a:solidFill>
                  <a:latin typeface="HK Grotesk Light"/>
                  <a:ea typeface="HK Grotesk Light"/>
                  <a:cs typeface="HK Grotesk Light"/>
                  <a:sym typeface="HK Grotesk Light"/>
                </a:rPr>
                <a:t>    2. The AI automatically generates and populates folders based on the content of</a:t>
              </a:r>
            </a:p>
            <a:p>
              <a:pPr marL="0" lvl="0" indent="0" algn="l">
                <a:lnSpc>
                  <a:spcPts val="2310"/>
                </a:lnSpc>
              </a:pPr>
              <a:r>
                <a:rPr lang="en-US" sz="1650">
                  <a:solidFill>
                    <a:srgbClr val="F5F5F5"/>
                  </a:solidFill>
                  <a:latin typeface="HK Grotesk Light"/>
                  <a:ea typeface="HK Grotesk Light"/>
                  <a:cs typeface="HK Grotesk Light"/>
                  <a:sym typeface="HK Grotesk Light"/>
                </a:rPr>
                <a:t>        saved posts (e.g., "Travel Inspiration," "Food Ideas").</a:t>
              </a:r>
            </a:p>
            <a:p>
              <a:pPr marL="0" lvl="0" indent="0" algn="l">
                <a:lnSpc>
                  <a:spcPts val="2310"/>
                </a:lnSpc>
              </a:pPr>
              <a:r>
                <a:rPr lang="en-US" sz="1650">
                  <a:solidFill>
                    <a:srgbClr val="F5F5F5"/>
                  </a:solidFill>
                  <a:latin typeface="HK Grotesk Light"/>
                  <a:ea typeface="HK Grotesk Light"/>
                  <a:cs typeface="HK Grotesk Light"/>
                  <a:sym typeface="HK Grotesk Light"/>
                </a:rPr>
                <a:t>    3. The user can review, rename, and move posts between these auto-</a:t>
              </a:r>
            </a:p>
            <a:p>
              <a:pPr marL="0" lvl="0" indent="0" algn="l">
                <a:lnSpc>
                  <a:spcPts val="2310"/>
                </a:lnSpc>
              </a:pPr>
              <a:r>
                <a:rPr lang="en-US" sz="1650">
                  <a:solidFill>
                    <a:srgbClr val="F5F5F5"/>
                  </a:solidFill>
                  <a:latin typeface="HK Grotesk Light"/>
                  <a:ea typeface="HK Grotesk Light"/>
                  <a:cs typeface="HK Grotesk Light"/>
                  <a:sym typeface="HK Grotesk Light"/>
                </a:rPr>
                <a:t>        generated folders.</a:t>
              </a:r>
            </a:p>
            <a:p>
              <a:pPr marL="0" lvl="0" indent="0" algn="l">
                <a:lnSpc>
                  <a:spcPts val="2310"/>
                </a:lnSpc>
              </a:pPr>
              <a:endParaRPr lang="en-US" sz="1650">
                <a:solidFill>
                  <a:srgbClr val="F5F5F5"/>
                </a:solidFill>
                <a:latin typeface="HK Grotesk Light"/>
                <a:ea typeface="HK Grotesk Light"/>
                <a:cs typeface="HK Grotesk Light"/>
                <a:sym typeface="HK Grotesk Light"/>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7B2D9F">
                <a:alpha val="100000"/>
              </a:srgbClr>
            </a:gs>
            <a:gs pos="100000">
              <a:srgbClr val="FDD82E">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075372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grpSp>
        <p:nvGrpSpPr>
          <p:cNvPr id="4" name="Group 4"/>
          <p:cNvGrpSpPr/>
          <p:nvPr/>
        </p:nvGrpSpPr>
        <p:grpSpPr>
          <a:xfrm>
            <a:off x="421932" y="527086"/>
            <a:ext cx="10477456" cy="6078948"/>
            <a:chOff x="0" y="0"/>
            <a:chExt cx="13969942" cy="8105264"/>
          </a:xfrm>
        </p:grpSpPr>
        <p:sp>
          <p:nvSpPr>
            <p:cNvPr id="5" name="TextBox 5"/>
            <p:cNvSpPr txBox="1"/>
            <p:nvPr/>
          </p:nvSpPr>
          <p:spPr>
            <a:xfrm>
              <a:off x="0" y="19050"/>
              <a:ext cx="13969942" cy="383281"/>
            </a:xfrm>
            <a:prstGeom prst="rect">
              <a:avLst/>
            </a:prstGeom>
          </p:spPr>
          <p:txBody>
            <a:bodyPr lIns="0" tIns="0" rIns="0" bIns="0" rtlCol="0" anchor="t">
              <a:spAutoFit/>
            </a:bodyPr>
            <a:lstStyle/>
            <a:p>
              <a:pPr marL="0" lvl="0" indent="0" algn="l">
                <a:lnSpc>
                  <a:spcPts val="2210"/>
                </a:lnSpc>
              </a:pPr>
              <a:r>
                <a:rPr lang="en-US" sz="2009">
                  <a:solidFill>
                    <a:srgbClr val="F5F5F5"/>
                  </a:solidFill>
                  <a:latin typeface="HK Grotesk"/>
                  <a:ea typeface="HK Grotesk"/>
                  <a:cs typeface="HK Grotesk"/>
                  <a:sym typeface="HK Grotesk"/>
                </a:rPr>
                <a:t>Direct Sales from Stories</a:t>
              </a:r>
            </a:p>
          </p:txBody>
        </p:sp>
        <p:sp>
          <p:nvSpPr>
            <p:cNvPr id="6" name="TextBox 6"/>
            <p:cNvSpPr txBox="1"/>
            <p:nvPr/>
          </p:nvSpPr>
          <p:spPr>
            <a:xfrm>
              <a:off x="0" y="808269"/>
              <a:ext cx="13969942" cy="7296995"/>
            </a:xfrm>
            <a:prstGeom prst="rect">
              <a:avLst/>
            </a:prstGeom>
          </p:spPr>
          <p:txBody>
            <a:bodyPr lIns="0" tIns="0" rIns="0" bIns="0" rtlCol="0" anchor="t">
              <a:spAutoFit/>
            </a:bodyPr>
            <a:lstStyle/>
            <a:p>
              <a:pPr marL="0" lvl="0" indent="0" algn="l">
                <a:lnSpc>
                  <a:spcPts val="2721"/>
                </a:lnSpc>
              </a:pPr>
              <a:r>
                <a:rPr lang="en-US" sz="1943">
                  <a:solidFill>
                    <a:srgbClr val="F5F5F5"/>
                  </a:solidFill>
                  <a:latin typeface="HK Grotesk"/>
                  <a:ea typeface="HK Grotesk"/>
                  <a:cs typeface="HK Grotesk"/>
                  <a:sym typeface="HK Grotesk"/>
                </a:rPr>
                <a:t>Persona: Priya Patel (The Business Owner)</a:t>
              </a:r>
            </a:p>
            <a:p>
              <a:pPr marL="0" lvl="0" indent="0" algn="l">
                <a:lnSpc>
                  <a:spcPts val="2721"/>
                </a:lnSpc>
              </a:pPr>
              <a:endParaRPr lang="en-US" sz="1943">
                <a:solidFill>
                  <a:srgbClr val="F5F5F5"/>
                </a:solidFill>
                <a:latin typeface="HK Grotesk"/>
                <a:ea typeface="HK Grotesk"/>
                <a:cs typeface="HK Grotesk"/>
                <a:sym typeface="HK Grotesk"/>
              </a:endParaRPr>
            </a:p>
            <a:p>
              <a:pPr marL="0" lvl="0" indent="0" algn="l">
                <a:lnSpc>
                  <a:spcPts val="2721"/>
                </a:lnSpc>
              </a:pPr>
              <a:r>
                <a:rPr lang="en-US" sz="1943">
                  <a:solidFill>
                    <a:srgbClr val="F5F5F5"/>
                  </a:solidFill>
                  <a:latin typeface="HK Grotesk"/>
                  <a:ea typeface="HK Grotesk"/>
                  <a:cs typeface="HK Grotesk"/>
                  <a:sym typeface="HK Grotesk"/>
                </a:rPr>
                <a:t>User Story: </a:t>
              </a:r>
              <a:r>
                <a:rPr lang="en-US" sz="1943" b="1">
                  <a:solidFill>
                    <a:srgbClr val="F5F5F5"/>
                  </a:solidFill>
                  <a:latin typeface="HK Grotesk Bold"/>
                  <a:ea typeface="HK Grotesk Bold"/>
                  <a:cs typeface="HK Grotesk Bold"/>
                  <a:sym typeface="HK Grotesk Bold"/>
                </a:rPr>
                <a:t>As Priva, I want to add purchasable product stickers to my stories so that I can convert viewer engagement into direct sales without requiring them to visit a</a:t>
              </a:r>
            </a:p>
            <a:p>
              <a:pPr marL="0" lvl="0" indent="0" algn="l">
                <a:lnSpc>
                  <a:spcPts val="2721"/>
                </a:lnSpc>
              </a:pPr>
              <a:r>
                <a:rPr lang="en-US" sz="1943" b="1">
                  <a:solidFill>
                    <a:srgbClr val="F5F5F5"/>
                  </a:solidFill>
                  <a:latin typeface="HK Grotesk Bold"/>
                  <a:ea typeface="HK Grotesk Bold"/>
                  <a:cs typeface="HK Grotesk Bold"/>
                  <a:sym typeface="HK Grotesk Bold"/>
                </a:rPr>
                <a:t>separate website.</a:t>
              </a:r>
            </a:p>
            <a:p>
              <a:pPr marL="0" lvl="0" indent="0" algn="l">
                <a:lnSpc>
                  <a:spcPts val="2721"/>
                </a:lnSpc>
              </a:pPr>
              <a:endParaRPr lang="en-US" sz="1943" b="1">
                <a:solidFill>
                  <a:srgbClr val="F5F5F5"/>
                </a:solidFill>
                <a:latin typeface="HK Grotesk Bold"/>
                <a:ea typeface="HK Grotesk Bold"/>
                <a:cs typeface="HK Grotesk Bold"/>
                <a:sym typeface="HK Grotesk Bold"/>
              </a:endParaRPr>
            </a:p>
            <a:p>
              <a:pPr marL="419667" lvl="1" indent="-209834" algn="l">
                <a:lnSpc>
                  <a:spcPts val="2721"/>
                </a:lnSpc>
                <a:buFont typeface="Arial"/>
                <a:buChar char="•"/>
              </a:pPr>
              <a:r>
                <a:rPr lang="en-US" sz="1943">
                  <a:solidFill>
                    <a:srgbClr val="F5F5F5"/>
                  </a:solidFill>
                  <a:latin typeface="HK Grotesk"/>
                  <a:ea typeface="HK Grotesk"/>
                  <a:cs typeface="HK Grotesk"/>
                  <a:sym typeface="HK Grotesk"/>
                </a:rPr>
                <a:t>Benefit: This streamlines the purchasing process, improves sales conversion from          </a:t>
              </a:r>
            </a:p>
            <a:p>
              <a:pPr marL="0" lvl="0" indent="0" algn="l">
                <a:lnSpc>
                  <a:spcPts val="2721"/>
                </a:lnSpc>
              </a:pPr>
              <a:r>
                <a:rPr lang="en-US" sz="1943">
                  <a:solidFill>
                    <a:srgbClr val="F5F5F5"/>
                  </a:solidFill>
                  <a:latin typeface="HK Grotesk"/>
                  <a:ea typeface="HK Grotesk"/>
                  <a:cs typeface="HK Grotesk"/>
                  <a:sym typeface="HK Grotesk"/>
                </a:rPr>
                <a:t>      marketing efforts, and helps track the direct ROI of story campaigns.</a:t>
              </a:r>
            </a:p>
            <a:p>
              <a:pPr marL="0" lvl="0" indent="0" algn="l">
                <a:lnSpc>
                  <a:spcPts val="2721"/>
                </a:lnSpc>
              </a:pPr>
              <a:endParaRPr lang="en-US" sz="1943">
                <a:solidFill>
                  <a:srgbClr val="F5F5F5"/>
                </a:solidFill>
                <a:latin typeface="HK Grotesk"/>
                <a:ea typeface="HK Grotesk"/>
                <a:cs typeface="HK Grotesk"/>
                <a:sym typeface="HK Grotesk"/>
              </a:endParaRPr>
            </a:p>
            <a:p>
              <a:pPr marL="419667" lvl="1" indent="-209834" algn="l">
                <a:lnSpc>
                  <a:spcPts val="2721"/>
                </a:lnSpc>
                <a:buFont typeface="Arial"/>
                <a:buChar char="•"/>
              </a:pPr>
              <a:r>
                <a:rPr lang="en-US" sz="1943">
                  <a:solidFill>
                    <a:srgbClr val="F5F5F5"/>
                  </a:solidFill>
                  <a:latin typeface="HK Grotesk"/>
                  <a:ea typeface="HK Grotesk"/>
                  <a:cs typeface="HK Grotesk"/>
                  <a:sym typeface="HK Grotesk"/>
                </a:rPr>
                <a:t>Acceptance Criteria:</a:t>
              </a:r>
            </a:p>
            <a:p>
              <a:pPr marL="419667" lvl="1" indent="-209834" algn="l">
                <a:lnSpc>
                  <a:spcPts val="2721"/>
                </a:lnSpc>
                <a:buAutoNum type="arabicPeriod"/>
              </a:pPr>
              <a:r>
                <a:rPr lang="en-US" sz="1943">
                  <a:solidFill>
                    <a:srgbClr val="F5F5F5"/>
                  </a:solidFill>
                  <a:latin typeface="HK Grotesk"/>
                  <a:ea typeface="HK Grotesk"/>
                  <a:cs typeface="HK Grotesk"/>
                  <a:sym typeface="HK Grotesk"/>
                </a:rPr>
                <a:t>A "Product" sticker is available in the sticker tray when creating a story.</a:t>
              </a:r>
            </a:p>
            <a:p>
              <a:pPr marL="0" lvl="0" indent="0" algn="l">
                <a:lnSpc>
                  <a:spcPts val="2721"/>
                </a:lnSpc>
              </a:pPr>
              <a:r>
                <a:rPr lang="en-US" sz="1943">
                  <a:solidFill>
                    <a:srgbClr val="F5F5F5"/>
                  </a:solidFill>
                  <a:latin typeface="HK Grotesk"/>
                  <a:ea typeface="HK Grotesk"/>
                  <a:cs typeface="HK Grotesk"/>
                  <a:sym typeface="HK Grotesk"/>
                </a:rPr>
                <a:t>       Selecting the sticker allows me to link a specific item from my connected e-commerce catalog.</a:t>
              </a:r>
            </a:p>
            <a:p>
              <a:pPr marL="0" lvl="0" indent="0" algn="l">
                <a:lnSpc>
                  <a:spcPts val="2721"/>
                </a:lnSpc>
              </a:pPr>
              <a:r>
                <a:rPr lang="en-US" sz="1943">
                  <a:solidFill>
                    <a:srgbClr val="F5F5F5"/>
                  </a:solidFill>
                  <a:latin typeface="HK Grotesk"/>
                  <a:ea typeface="HK Grotesk"/>
                  <a:cs typeface="HK Grotesk"/>
                  <a:sym typeface="HK Grotesk"/>
                </a:rPr>
                <a:t>    2. Viewers can tap the sticker to see product details and complete the checkout</a:t>
              </a:r>
            </a:p>
            <a:p>
              <a:pPr marL="0" lvl="0" indent="0" algn="l">
                <a:lnSpc>
                  <a:spcPts val="2721"/>
                </a:lnSpc>
              </a:pPr>
              <a:r>
                <a:rPr lang="en-US" sz="1943">
                  <a:solidFill>
                    <a:srgbClr val="F5F5F5"/>
                  </a:solidFill>
                  <a:latin typeface="HK Grotesk"/>
                  <a:ea typeface="HK Grotesk"/>
                  <a:cs typeface="HK Grotesk"/>
                  <a:sym typeface="HK Grotesk"/>
                </a:rPr>
                <a:t>        process within the Instagram app.</a:t>
              </a:r>
            </a:p>
            <a:p>
              <a:pPr marL="0" lvl="0" indent="0" algn="l">
                <a:lnSpc>
                  <a:spcPts val="2721"/>
                </a:lnSpc>
              </a:pPr>
              <a:endParaRPr lang="en-US" sz="1943">
                <a:solidFill>
                  <a:srgbClr val="F5F5F5"/>
                </a:solidFill>
                <a:latin typeface="HK Grotesk"/>
                <a:ea typeface="HK Grotesk"/>
                <a:cs typeface="HK Grotesk"/>
                <a:sym typeface="HK Grotesk"/>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3131">
                <a:alpha val="100000"/>
              </a:srgbClr>
            </a:gs>
            <a:gs pos="100000">
              <a:srgbClr val="FF914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666750" y="1507285"/>
            <a:ext cx="2569382" cy="798830"/>
          </a:xfrm>
          <a:prstGeom prst="rect">
            <a:avLst/>
          </a:prstGeom>
        </p:spPr>
        <p:txBody>
          <a:bodyPr lIns="0" tIns="0" rIns="0" bIns="0" rtlCol="0" anchor="t">
            <a:spAutoFit/>
          </a:bodyPr>
          <a:lstStyle/>
          <a:p>
            <a:pPr marL="0" lvl="0" indent="0" algn="l">
              <a:lnSpc>
                <a:spcPts val="3220"/>
              </a:lnSpc>
              <a:spcBef>
                <a:spcPct val="0"/>
              </a:spcBef>
            </a:pPr>
            <a:r>
              <a:rPr lang="en-US" sz="2300" b="1" u="none" strike="noStrike">
                <a:solidFill>
                  <a:srgbClr val="6F4678"/>
                </a:solidFill>
                <a:latin typeface="Raleway Bold"/>
                <a:ea typeface="Raleway Bold"/>
                <a:cs typeface="Raleway Bold"/>
                <a:sym typeface="Raleway Bold"/>
              </a:rPr>
              <a:t>Morning Engagement</a:t>
            </a:r>
          </a:p>
        </p:txBody>
      </p:sp>
      <p:sp>
        <p:nvSpPr>
          <p:cNvPr id="3" name="TextBox 3"/>
          <p:cNvSpPr txBox="1"/>
          <p:nvPr/>
        </p:nvSpPr>
        <p:spPr>
          <a:xfrm>
            <a:off x="5465991" y="1907335"/>
            <a:ext cx="2569382" cy="398780"/>
          </a:xfrm>
          <a:prstGeom prst="rect">
            <a:avLst/>
          </a:prstGeom>
        </p:spPr>
        <p:txBody>
          <a:bodyPr lIns="0" tIns="0" rIns="0" bIns="0" rtlCol="0" anchor="t">
            <a:spAutoFit/>
          </a:bodyPr>
          <a:lstStyle/>
          <a:p>
            <a:pPr marL="0" lvl="0" indent="0" algn="l">
              <a:lnSpc>
                <a:spcPts val="3220"/>
              </a:lnSpc>
              <a:spcBef>
                <a:spcPct val="0"/>
              </a:spcBef>
            </a:pPr>
            <a:r>
              <a:rPr lang="en-US" sz="2300" b="1" u="none" strike="noStrike">
                <a:solidFill>
                  <a:srgbClr val="6F4678"/>
                </a:solidFill>
                <a:latin typeface="Raleway Bold"/>
                <a:ea typeface="Raleway Bold"/>
                <a:cs typeface="Raleway Bold"/>
                <a:sym typeface="Raleway Bold"/>
              </a:rPr>
              <a:t>Midday Check-in</a:t>
            </a:r>
          </a:p>
        </p:txBody>
      </p:sp>
      <p:sp>
        <p:nvSpPr>
          <p:cNvPr id="4" name="TextBox 4"/>
          <p:cNvSpPr txBox="1"/>
          <p:nvPr/>
        </p:nvSpPr>
        <p:spPr>
          <a:xfrm>
            <a:off x="15064472" y="1507285"/>
            <a:ext cx="2569382" cy="798830"/>
          </a:xfrm>
          <a:prstGeom prst="rect">
            <a:avLst/>
          </a:prstGeom>
        </p:spPr>
        <p:txBody>
          <a:bodyPr lIns="0" tIns="0" rIns="0" bIns="0" rtlCol="0" anchor="t">
            <a:spAutoFit/>
          </a:bodyPr>
          <a:lstStyle/>
          <a:p>
            <a:pPr marL="0" lvl="0" indent="0" algn="l">
              <a:lnSpc>
                <a:spcPts val="3220"/>
              </a:lnSpc>
              <a:spcBef>
                <a:spcPct val="0"/>
              </a:spcBef>
            </a:pPr>
            <a:r>
              <a:rPr lang="en-US" sz="2300" b="1" u="none" strike="noStrike">
                <a:solidFill>
                  <a:srgbClr val="6F4678"/>
                </a:solidFill>
                <a:latin typeface="Raleway Bold"/>
                <a:ea typeface="Raleway Bold"/>
                <a:cs typeface="Raleway Bold"/>
                <a:sym typeface="Raleway Bold"/>
              </a:rPr>
              <a:t>Evening Reflection</a:t>
            </a:r>
          </a:p>
        </p:txBody>
      </p:sp>
      <p:sp>
        <p:nvSpPr>
          <p:cNvPr id="5" name="TextBox 5"/>
          <p:cNvSpPr txBox="1"/>
          <p:nvPr/>
        </p:nvSpPr>
        <p:spPr>
          <a:xfrm>
            <a:off x="666750" y="2745935"/>
            <a:ext cx="8639846" cy="2936240"/>
          </a:xfrm>
          <a:prstGeom prst="rect">
            <a:avLst/>
          </a:prstGeom>
        </p:spPr>
        <p:txBody>
          <a:bodyPr lIns="0" tIns="0" rIns="0" bIns="0" rtlCol="0" anchor="t">
            <a:spAutoFit/>
          </a:bodyPr>
          <a:lstStyle/>
          <a:p>
            <a:pPr algn="l">
              <a:lnSpc>
                <a:spcPts val="1689"/>
              </a:lnSpc>
            </a:pPr>
            <a:r>
              <a:rPr lang="en-US" sz="1299" b="1">
                <a:solidFill>
                  <a:srgbClr val="FFFFFF"/>
                </a:solidFill>
                <a:latin typeface="HK Grotesk Bold"/>
                <a:ea typeface="HK Grotesk Bold"/>
                <a:cs typeface="HK Grotesk Bold"/>
                <a:sym typeface="HK Grotesk Bold"/>
              </a:rPr>
              <a:t>👩‍🎓 Mia Rodriguez – The Social Storyteller (College Student, 22, Austin, TX)</a:t>
            </a:r>
          </a:p>
          <a:p>
            <a:pPr algn="l">
              <a:lnSpc>
                <a:spcPts val="1689"/>
              </a:lnSpc>
            </a:pPr>
            <a:r>
              <a:rPr lang="en-US" sz="1299" b="1">
                <a:solidFill>
                  <a:srgbClr val="FFFFFF"/>
                </a:solidFill>
                <a:latin typeface="HK Grotesk Semi-Bold"/>
                <a:ea typeface="HK Grotesk Semi-Bold"/>
                <a:cs typeface="HK Grotesk Semi-Bold"/>
                <a:sym typeface="HK Grotesk Semi-Bold"/>
              </a:rPr>
              <a:t>Goal:</a:t>
            </a:r>
            <a:r>
              <a:rPr lang="en-US" sz="1299">
                <a:solidFill>
                  <a:srgbClr val="FFFFFF"/>
                </a:solidFill>
                <a:latin typeface="HK Grotesk"/>
                <a:ea typeface="HK Grotesk"/>
                <a:cs typeface="HK Grotesk"/>
                <a:sym typeface="HK Grotesk"/>
              </a:rPr>
              <a:t> Build community and express creativity through stories and reels.</a:t>
            </a:r>
          </a:p>
          <a:p>
            <a:pPr algn="l">
              <a:lnSpc>
                <a:spcPts val="1689"/>
              </a:lnSpc>
            </a:pPr>
            <a:r>
              <a:rPr lang="en-US" sz="1299" b="1">
                <a:solidFill>
                  <a:srgbClr val="FFFFFF"/>
                </a:solidFill>
                <a:latin typeface="HK Grotesk Semi-Bold"/>
                <a:ea typeface="HK Grotesk Semi-Bold"/>
                <a:cs typeface="HK Grotesk Semi-Bold"/>
                <a:sym typeface="HK Grotesk Semi-Bold"/>
              </a:rPr>
              <a:t>Tone:</a:t>
            </a:r>
            <a:r>
              <a:rPr lang="en-US" sz="1299">
                <a:solidFill>
                  <a:srgbClr val="FFFFFF"/>
                </a:solidFill>
                <a:latin typeface="HK Grotesk"/>
                <a:ea typeface="HK Grotesk"/>
                <a:cs typeface="HK Grotesk"/>
                <a:sym typeface="HK Grotesk"/>
              </a:rPr>
              <a:t> Energetic, spontaneous, and socially connected.</a:t>
            </a:r>
          </a:p>
          <a:p>
            <a:pPr algn="l">
              <a:lnSpc>
                <a:spcPts val="1689"/>
              </a:lnSpc>
            </a:pPr>
            <a:r>
              <a:rPr lang="en-US" sz="1299" b="1">
                <a:solidFill>
                  <a:srgbClr val="FFFFFF"/>
                </a:solidFill>
                <a:latin typeface="HK Grotesk Bold"/>
                <a:ea typeface="HK Grotesk Bold"/>
                <a:cs typeface="HK Grotesk Bold"/>
                <a:sym typeface="HK Grotesk Bold"/>
              </a:rPr>
              <a:t>Timeline:</a:t>
            </a:r>
          </a:p>
          <a:p>
            <a:pPr marL="280669" lvl="1" indent="-140335" algn="l">
              <a:lnSpc>
                <a:spcPts val="1689"/>
              </a:lnSpc>
              <a:buFont typeface="Arial"/>
              <a:buChar char="•"/>
            </a:pPr>
            <a:r>
              <a:rPr lang="en-US" sz="1299" b="1">
                <a:solidFill>
                  <a:srgbClr val="FFFFFF"/>
                </a:solidFill>
                <a:latin typeface="HK Grotesk Semi-Bold"/>
                <a:ea typeface="HK Grotesk Semi-Bold"/>
                <a:cs typeface="HK Grotesk Semi-Bold"/>
                <a:sym typeface="HK Grotesk Semi-Bold"/>
              </a:rPr>
              <a:t>7:30 AM ☀️</a:t>
            </a:r>
            <a:r>
              <a:rPr lang="en-US" sz="1299">
                <a:solidFill>
                  <a:srgbClr val="FFFFFF"/>
                </a:solidFill>
                <a:latin typeface="HK Grotesk"/>
                <a:ea typeface="HK Grotesk"/>
                <a:cs typeface="HK Grotesk"/>
                <a:sym typeface="HK Grotesk"/>
              </a:rPr>
              <a:t> – Checks Instagram stories while getting ready for class; replies to friends’ DMs.</a:t>
            </a:r>
          </a:p>
          <a:p>
            <a:pPr marL="280669" lvl="1" indent="-140335" algn="l">
              <a:lnSpc>
                <a:spcPts val="1689"/>
              </a:lnSpc>
              <a:buFont typeface="Arial"/>
              <a:buChar char="•"/>
            </a:pPr>
            <a:r>
              <a:rPr lang="en-US" sz="1299" b="1">
                <a:solidFill>
                  <a:srgbClr val="FFFFFF"/>
                </a:solidFill>
                <a:latin typeface="HK Grotesk Semi-Bold"/>
                <a:ea typeface="HK Grotesk Semi-Bold"/>
                <a:cs typeface="HK Grotesk Semi-Bold"/>
                <a:sym typeface="HK Grotesk Semi-Bold"/>
              </a:rPr>
              <a:t>10:00 AM 📸</a:t>
            </a:r>
            <a:r>
              <a:rPr lang="en-US" sz="1299">
                <a:solidFill>
                  <a:srgbClr val="FFFFFF"/>
                </a:solidFill>
                <a:latin typeface="HK Grotesk"/>
                <a:ea typeface="HK Grotesk"/>
                <a:cs typeface="HK Grotesk"/>
                <a:sym typeface="HK Grotesk"/>
              </a:rPr>
              <a:t> – Captures campus moments or coffee snaps for her story.</a:t>
            </a:r>
          </a:p>
          <a:p>
            <a:pPr marL="280669" lvl="1" indent="-140335" algn="l">
              <a:lnSpc>
                <a:spcPts val="1689"/>
              </a:lnSpc>
              <a:buFont typeface="Arial"/>
              <a:buChar char="•"/>
            </a:pPr>
            <a:r>
              <a:rPr lang="en-US" sz="1299" b="1">
                <a:solidFill>
                  <a:srgbClr val="FFFFFF"/>
                </a:solidFill>
                <a:latin typeface="HK Grotesk Semi-Bold"/>
                <a:ea typeface="HK Grotesk Semi-Bold"/>
                <a:cs typeface="HK Grotesk Semi-Bold"/>
                <a:sym typeface="HK Grotesk Semi-Bold"/>
              </a:rPr>
              <a:t>1:00 PM 🎓</a:t>
            </a:r>
            <a:r>
              <a:rPr lang="en-US" sz="1299">
                <a:solidFill>
                  <a:srgbClr val="FFFFFF"/>
                </a:solidFill>
                <a:latin typeface="HK Grotesk"/>
                <a:ea typeface="HK Grotesk"/>
                <a:cs typeface="HK Grotesk"/>
                <a:sym typeface="HK Grotesk"/>
              </a:rPr>
              <a:t> – Scrolls through trending reels during lunch; saves ideas for future posts.</a:t>
            </a:r>
          </a:p>
          <a:p>
            <a:pPr marL="280669" lvl="1" indent="-140335" algn="l">
              <a:lnSpc>
                <a:spcPts val="1689"/>
              </a:lnSpc>
              <a:buFont typeface="Arial"/>
              <a:buChar char="•"/>
            </a:pPr>
            <a:r>
              <a:rPr lang="en-US" sz="1299" b="1">
                <a:solidFill>
                  <a:srgbClr val="FFFFFF"/>
                </a:solidFill>
                <a:latin typeface="HK Grotesk Semi-Bold"/>
                <a:ea typeface="HK Grotesk Semi-Bold"/>
                <a:cs typeface="HK Grotesk Semi-Bold"/>
                <a:sym typeface="HK Grotesk Semi-Bold"/>
              </a:rPr>
              <a:t>4:00 PM 💬</a:t>
            </a:r>
            <a:r>
              <a:rPr lang="en-US" sz="1299">
                <a:solidFill>
                  <a:srgbClr val="FFFFFF"/>
                </a:solidFill>
                <a:latin typeface="HK Grotesk"/>
                <a:ea typeface="HK Grotesk"/>
                <a:cs typeface="HK Grotesk"/>
                <a:sym typeface="HK Grotesk"/>
              </a:rPr>
              <a:t> – Engages with polls and Q&amp;As from friends and local creators.</a:t>
            </a:r>
          </a:p>
          <a:p>
            <a:pPr marL="280669" lvl="1" indent="-140335" algn="l">
              <a:lnSpc>
                <a:spcPts val="1689"/>
              </a:lnSpc>
              <a:buFont typeface="Arial"/>
              <a:buChar char="•"/>
            </a:pPr>
            <a:r>
              <a:rPr lang="en-US" sz="1299" b="1">
                <a:solidFill>
                  <a:srgbClr val="FFFFFF"/>
                </a:solidFill>
                <a:latin typeface="HK Grotesk Semi-Bold"/>
                <a:ea typeface="HK Grotesk Semi-Bold"/>
                <a:cs typeface="HK Grotesk Semi-Bold"/>
                <a:sym typeface="HK Grotesk Semi-Bold"/>
              </a:rPr>
              <a:t>6:30 PM 🌇</a:t>
            </a:r>
            <a:r>
              <a:rPr lang="en-US" sz="1299">
                <a:solidFill>
                  <a:srgbClr val="FFFFFF"/>
                </a:solidFill>
                <a:latin typeface="HK Grotesk"/>
                <a:ea typeface="HK Grotesk"/>
                <a:cs typeface="HK Grotesk"/>
                <a:sym typeface="HK Grotesk"/>
              </a:rPr>
              <a:t> – Edits and uploads a reel using mobile tools; experiments with filters.</a:t>
            </a:r>
          </a:p>
          <a:p>
            <a:pPr marL="280669" lvl="1" indent="-140335" algn="l">
              <a:lnSpc>
                <a:spcPts val="1689"/>
              </a:lnSpc>
              <a:buFont typeface="Arial"/>
              <a:buChar char="•"/>
            </a:pPr>
            <a:r>
              <a:rPr lang="en-US" sz="1299" b="1">
                <a:solidFill>
                  <a:srgbClr val="FFFFFF"/>
                </a:solidFill>
                <a:latin typeface="HK Grotesk Semi-Bold"/>
                <a:ea typeface="HK Grotesk Semi-Bold"/>
                <a:cs typeface="HK Grotesk Semi-Bold"/>
                <a:sym typeface="HK Grotesk Semi-Bold"/>
              </a:rPr>
              <a:t>9:00 PM 🌙</a:t>
            </a:r>
            <a:r>
              <a:rPr lang="en-US" sz="1299">
                <a:solidFill>
                  <a:srgbClr val="FFFFFF"/>
                </a:solidFill>
                <a:latin typeface="HK Grotesk"/>
                <a:ea typeface="HK Grotesk"/>
                <a:cs typeface="HK Grotesk"/>
                <a:sym typeface="HK Grotesk"/>
              </a:rPr>
              <a:t> – Reviews engagement metrics and responds to comments before bed.</a:t>
            </a:r>
          </a:p>
          <a:p>
            <a:pPr algn="l">
              <a:lnSpc>
                <a:spcPts val="1689"/>
              </a:lnSpc>
            </a:pPr>
            <a:r>
              <a:rPr lang="en-US" sz="1299" b="1">
                <a:solidFill>
                  <a:srgbClr val="FFFFFF"/>
                </a:solidFill>
                <a:latin typeface="HK Grotesk Semi-Bold"/>
                <a:ea typeface="HK Grotesk Semi-Bold"/>
                <a:cs typeface="HK Grotesk Semi-Bold"/>
                <a:sym typeface="HK Grotesk Semi-Bold"/>
              </a:rPr>
              <a:t>Extra Educational Insight:</a:t>
            </a:r>
          </a:p>
          <a:p>
            <a:pPr algn="l">
              <a:lnSpc>
                <a:spcPts val="1689"/>
              </a:lnSpc>
            </a:pPr>
            <a:r>
              <a:rPr lang="en-US" sz="1299">
                <a:solidFill>
                  <a:srgbClr val="FFFFFF"/>
                </a:solidFill>
                <a:latin typeface="HK Grotesk"/>
                <a:ea typeface="HK Grotesk"/>
                <a:cs typeface="HK Grotesk"/>
                <a:sym typeface="HK Grotesk"/>
              </a:rPr>
              <a:t>Mia’s day reflects the </a:t>
            </a:r>
            <a:r>
              <a:rPr lang="en-US" sz="1299" b="1">
                <a:solidFill>
                  <a:srgbClr val="FFFFFF"/>
                </a:solidFill>
                <a:latin typeface="HK Grotesk Semi-Bold"/>
                <a:ea typeface="HK Grotesk Semi-Bold"/>
                <a:cs typeface="HK Grotesk Semi-Bold"/>
                <a:sym typeface="HK Grotesk Semi-Bold"/>
              </a:rPr>
              <a:t>dual role of student and micro-influencer</a:t>
            </a:r>
            <a:r>
              <a:rPr lang="en-US" sz="1299">
                <a:solidFill>
                  <a:srgbClr val="FFFFFF"/>
                </a:solidFill>
                <a:latin typeface="HK Grotesk"/>
                <a:ea typeface="HK Grotesk"/>
                <a:cs typeface="HK Grotesk"/>
                <a:sym typeface="HK Grotesk"/>
              </a:rPr>
              <a:t>, showing how </a:t>
            </a:r>
            <a:r>
              <a:rPr lang="en-US" sz="1299" b="1">
                <a:solidFill>
                  <a:srgbClr val="FFFFFF"/>
                </a:solidFill>
                <a:latin typeface="HK Grotesk Semi-Bold"/>
                <a:ea typeface="HK Grotesk Semi-Bold"/>
                <a:cs typeface="HK Grotesk Semi-Bold"/>
                <a:sym typeface="HK Grotesk Semi-Bold"/>
              </a:rPr>
              <a:t>social media habits intertwine with identity-building and peer engagement</a:t>
            </a:r>
            <a:r>
              <a:rPr lang="en-US" sz="1299">
                <a:solidFill>
                  <a:srgbClr val="FFFFFF"/>
                </a:solidFill>
                <a:latin typeface="HK Grotesk"/>
                <a:ea typeface="HK Grotesk"/>
                <a:cs typeface="HK Grotesk"/>
                <a:sym typeface="HK Grotesk"/>
              </a:rPr>
              <a:t> — a key concept in digital communication studies.</a:t>
            </a:r>
          </a:p>
          <a:p>
            <a:pPr marL="0" lvl="0" indent="0" algn="l">
              <a:lnSpc>
                <a:spcPts val="1689"/>
              </a:lnSpc>
              <a:spcBef>
                <a:spcPct val="0"/>
              </a:spcBef>
            </a:pPr>
            <a:endParaRPr lang="en-US" sz="1299">
              <a:solidFill>
                <a:srgbClr val="FFFFFF"/>
              </a:solidFill>
              <a:latin typeface="HK Grotesk"/>
              <a:ea typeface="HK Grotesk"/>
              <a:cs typeface="HK Grotesk"/>
              <a:sym typeface="HK Grotesk"/>
            </a:endParaRPr>
          </a:p>
        </p:txBody>
      </p:sp>
      <p:sp>
        <p:nvSpPr>
          <p:cNvPr id="6" name="TextBox 6"/>
          <p:cNvSpPr txBox="1"/>
          <p:nvPr/>
        </p:nvSpPr>
        <p:spPr>
          <a:xfrm>
            <a:off x="666750" y="714375"/>
            <a:ext cx="16954500" cy="846460"/>
          </a:xfrm>
          <a:prstGeom prst="rect">
            <a:avLst/>
          </a:prstGeom>
        </p:spPr>
        <p:txBody>
          <a:bodyPr lIns="0" tIns="0" rIns="0" bIns="0" rtlCol="0" anchor="t">
            <a:spAutoFit/>
          </a:bodyPr>
          <a:lstStyle/>
          <a:p>
            <a:pPr marL="0" lvl="0" indent="0" algn="l">
              <a:lnSpc>
                <a:spcPts val="6490"/>
              </a:lnSpc>
              <a:spcBef>
                <a:spcPct val="0"/>
              </a:spcBef>
            </a:pPr>
            <a:r>
              <a:rPr lang="en-US" sz="5900">
                <a:solidFill>
                  <a:srgbClr val="6F4678"/>
                </a:solidFill>
                <a:latin typeface="Raleway"/>
                <a:ea typeface="Raleway"/>
                <a:cs typeface="Raleway"/>
                <a:sym typeface="Raleway"/>
              </a:rPr>
              <a:t>Appendix:</a:t>
            </a:r>
            <a:r>
              <a:rPr lang="en-US" sz="5900" u="none" strike="noStrike">
                <a:solidFill>
                  <a:srgbClr val="6F4678"/>
                </a:solidFill>
                <a:latin typeface="Raleway"/>
                <a:ea typeface="Raleway"/>
                <a:cs typeface="Raleway"/>
                <a:sym typeface="Raleway"/>
              </a:rPr>
              <a:t>A Day in the Life</a:t>
            </a:r>
          </a:p>
        </p:txBody>
      </p:sp>
      <p:sp>
        <p:nvSpPr>
          <p:cNvPr id="7" name="AutoShape 7"/>
          <p:cNvSpPr/>
          <p:nvPr/>
        </p:nvSpPr>
        <p:spPr>
          <a:xfrm>
            <a:off x="828675" y="2525176"/>
            <a:ext cx="17607376" cy="0"/>
          </a:xfrm>
          <a:prstGeom prst="line">
            <a:avLst/>
          </a:prstGeom>
          <a:ln w="19050" cap="flat">
            <a:solidFill>
              <a:srgbClr val="A07BBF"/>
            </a:solidFill>
            <a:prstDash val="solid"/>
            <a:headEnd type="none" w="sm" len="sm"/>
            <a:tailEnd type="none" w="sm" len="sm"/>
          </a:ln>
        </p:spPr>
      </p:sp>
      <p:sp>
        <p:nvSpPr>
          <p:cNvPr id="8" name="AutoShape 8"/>
          <p:cNvSpPr/>
          <p:nvPr/>
        </p:nvSpPr>
        <p:spPr>
          <a:xfrm>
            <a:off x="1051516" y="10002149"/>
            <a:ext cx="15624461" cy="0"/>
          </a:xfrm>
          <a:prstGeom prst="line">
            <a:avLst/>
          </a:prstGeom>
          <a:ln w="19050" cap="flat">
            <a:solidFill>
              <a:srgbClr val="A07BBF"/>
            </a:solidFill>
            <a:prstDash val="solid"/>
            <a:headEnd type="none" w="sm" len="sm"/>
            <a:tailEnd type="none" w="sm" len="sm"/>
          </a:ln>
        </p:spPr>
      </p:sp>
      <p:sp>
        <p:nvSpPr>
          <p:cNvPr id="9" name="Freeform 9"/>
          <p:cNvSpPr/>
          <p:nvPr/>
        </p:nvSpPr>
        <p:spPr>
          <a:xfrm>
            <a:off x="221068" y="9916424"/>
            <a:ext cx="445682" cy="445682"/>
          </a:xfrm>
          <a:custGeom>
            <a:avLst/>
            <a:gdLst/>
            <a:ahLst/>
            <a:cxnLst/>
            <a:rect l="l" t="t" r="r" b="b"/>
            <a:pathLst>
              <a:path w="445682" h="445682">
                <a:moveTo>
                  <a:pt x="0" y="0"/>
                </a:moveTo>
                <a:lnTo>
                  <a:pt x="445682" y="0"/>
                </a:lnTo>
                <a:lnTo>
                  <a:pt x="445682" y="445682"/>
                </a:lnTo>
                <a:lnTo>
                  <a:pt x="0" y="44568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0" name="TextBox 10"/>
          <p:cNvSpPr txBox="1"/>
          <p:nvPr/>
        </p:nvSpPr>
        <p:spPr>
          <a:xfrm>
            <a:off x="10265231" y="1907335"/>
            <a:ext cx="2569382" cy="398780"/>
          </a:xfrm>
          <a:prstGeom prst="rect">
            <a:avLst/>
          </a:prstGeom>
        </p:spPr>
        <p:txBody>
          <a:bodyPr lIns="0" tIns="0" rIns="0" bIns="0" rtlCol="0" anchor="t">
            <a:spAutoFit/>
          </a:bodyPr>
          <a:lstStyle/>
          <a:p>
            <a:pPr marL="0" lvl="0" indent="0" algn="l">
              <a:lnSpc>
                <a:spcPts val="3220"/>
              </a:lnSpc>
              <a:spcBef>
                <a:spcPct val="0"/>
              </a:spcBef>
            </a:pPr>
            <a:r>
              <a:rPr lang="en-US" sz="2300" b="1" u="none" strike="noStrike">
                <a:solidFill>
                  <a:srgbClr val="6F4678"/>
                </a:solidFill>
                <a:latin typeface="Raleway Bold"/>
                <a:ea typeface="Raleway Bold"/>
                <a:cs typeface="Raleway Bold"/>
                <a:sym typeface="Raleway Bold"/>
              </a:rPr>
              <a:t>Afternoon Scroll</a:t>
            </a:r>
          </a:p>
        </p:txBody>
      </p:sp>
      <p:sp>
        <p:nvSpPr>
          <p:cNvPr id="11" name="TextBox 11"/>
          <p:cNvSpPr txBox="1"/>
          <p:nvPr/>
        </p:nvSpPr>
        <p:spPr>
          <a:xfrm>
            <a:off x="646491" y="7075938"/>
            <a:ext cx="8497509" cy="2840486"/>
          </a:xfrm>
          <a:prstGeom prst="rect">
            <a:avLst/>
          </a:prstGeom>
        </p:spPr>
        <p:txBody>
          <a:bodyPr lIns="0" tIns="0" rIns="0" bIns="0" rtlCol="0" anchor="t">
            <a:spAutoFit/>
          </a:bodyPr>
          <a:lstStyle/>
          <a:p>
            <a:pPr algn="l">
              <a:lnSpc>
                <a:spcPts val="1741"/>
              </a:lnSpc>
            </a:pPr>
            <a:r>
              <a:rPr lang="en-US" sz="1339" b="1">
                <a:solidFill>
                  <a:srgbClr val="FFFFFF"/>
                </a:solidFill>
                <a:latin typeface="HK Grotesk Bold"/>
                <a:ea typeface="HK Grotesk Bold"/>
                <a:cs typeface="HK Grotesk Bold"/>
                <a:sym typeface="HK Grotesk Bold"/>
              </a:rPr>
              <a:t>👨‍🏫 Ron Johnson – The Casual Browser (High School Teacher, 48, Seattle)</a:t>
            </a:r>
          </a:p>
          <a:p>
            <a:pPr algn="l">
              <a:lnSpc>
                <a:spcPts val="1741"/>
              </a:lnSpc>
            </a:pPr>
            <a:r>
              <a:rPr lang="en-US" sz="1339" b="1">
                <a:solidFill>
                  <a:srgbClr val="FFFFFF"/>
                </a:solidFill>
                <a:latin typeface="HK Grotesk Semi-Bold"/>
                <a:ea typeface="HK Grotesk Semi-Bold"/>
                <a:cs typeface="HK Grotesk Semi-Bold"/>
                <a:sym typeface="HK Grotesk Semi-Bold"/>
              </a:rPr>
              <a:t>Goal:</a:t>
            </a:r>
            <a:r>
              <a:rPr lang="en-US" sz="1339">
                <a:solidFill>
                  <a:srgbClr val="FFFFFF"/>
                </a:solidFill>
                <a:latin typeface="HK Grotesk"/>
                <a:ea typeface="HK Grotesk"/>
                <a:cs typeface="HK Grotesk"/>
                <a:sym typeface="HK Grotesk"/>
              </a:rPr>
              <a:t> Stay connected with friends and enjoy light entertainment without information overload.</a:t>
            </a:r>
          </a:p>
          <a:p>
            <a:pPr algn="l">
              <a:lnSpc>
                <a:spcPts val="1741"/>
              </a:lnSpc>
            </a:pPr>
            <a:r>
              <a:rPr lang="en-US" sz="1339" b="1">
                <a:solidFill>
                  <a:srgbClr val="FFFFFF"/>
                </a:solidFill>
                <a:latin typeface="HK Grotesk Semi-Bold"/>
                <a:ea typeface="HK Grotesk Semi-Bold"/>
                <a:cs typeface="HK Grotesk Semi-Bold"/>
                <a:sym typeface="HK Grotesk Semi-Bold"/>
              </a:rPr>
              <a:t>Tone:</a:t>
            </a:r>
            <a:r>
              <a:rPr lang="en-US" sz="1339">
                <a:solidFill>
                  <a:srgbClr val="FFFFFF"/>
                </a:solidFill>
                <a:latin typeface="HK Grotesk"/>
                <a:ea typeface="HK Grotesk"/>
                <a:cs typeface="HK Grotesk"/>
                <a:sym typeface="HK Grotesk"/>
              </a:rPr>
              <a:t> Relaxed, reflective, and minimalistic.</a:t>
            </a:r>
          </a:p>
          <a:p>
            <a:pPr algn="l">
              <a:lnSpc>
                <a:spcPts val="1741"/>
              </a:lnSpc>
            </a:pPr>
            <a:r>
              <a:rPr lang="en-US" sz="1339" b="1">
                <a:solidFill>
                  <a:srgbClr val="FFFFFF"/>
                </a:solidFill>
                <a:latin typeface="HK Grotesk Semi-Bold"/>
                <a:ea typeface="HK Grotesk Semi-Bold"/>
                <a:cs typeface="HK Grotesk Semi-Bold"/>
                <a:sym typeface="HK Grotesk Semi-Bold"/>
              </a:rPr>
              <a:t>Timeline:</a:t>
            </a:r>
          </a:p>
          <a:p>
            <a:pPr marL="289240" lvl="1" indent="-144620" algn="l">
              <a:lnSpc>
                <a:spcPts val="1741"/>
              </a:lnSpc>
              <a:buFont typeface="Arial"/>
              <a:buChar char="•"/>
            </a:pPr>
            <a:r>
              <a:rPr lang="en-US" sz="1339" b="1">
                <a:solidFill>
                  <a:srgbClr val="FFFFFF"/>
                </a:solidFill>
                <a:latin typeface="HK Grotesk Semi-Bold"/>
                <a:ea typeface="HK Grotesk Semi-Bold"/>
                <a:cs typeface="HK Grotesk Semi-Bold"/>
                <a:sym typeface="HK Grotesk Semi-Bold"/>
              </a:rPr>
              <a:t>6:30 AM ☕</a:t>
            </a:r>
            <a:r>
              <a:rPr lang="en-US" sz="1339">
                <a:solidFill>
                  <a:srgbClr val="FFFFFF"/>
                </a:solidFill>
                <a:latin typeface="HK Grotesk"/>
                <a:ea typeface="HK Grotesk"/>
                <a:cs typeface="HK Grotesk"/>
                <a:sym typeface="HK Grotesk"/>
              </a:rPr>
              <a:t> – Scrolls through news and sports highlights before work.</a:t>
            </a:r>
          </a:p>
          <a:p>
            <a:pPr marL="289240" lvl="1" indent="-144620" algn="l">
              <a:lnSpc>
                <a:spcPts val="1741"/>
              </a:lnSpc>
              <a:buFont typeface="Arial"/>
              <a:buChar char="•"/>
            </a:pPr>
            <a:r>
              <a:rPr lang="en-US" sz="1339" b="1">
                <a:solidFill>
                  <a:srgbClr val="FFFFFF"/>
                </a:solidFill>
                <a:latin typeface="HK Grotesk Semi-Bold"/>
                <a:ea typeface="HK Grotesk Semi-Bold"/>
                <a:cs typeface="HK Grotesk Semi-Bold"/>
                <a:sym typeface="HK Grotesk Semi-Bold"/>
              </a:rPr>
              <a:t>12:00 PM 🍴</a:t>
            </a:r>
            <a:r>
              <a:rPr lang="en-US" sz="1339">
                <a:solidFill>
                  <a:srgbClr val="FFFFFF"/>
                </a:solidFill>
                <a:latin typeface="HK Grotesk"/>
                <a:ea typeface="HK Grotesk"/>
                <a:cs typeface="HK Grotesk"/>
                <a:sym typeface="HK Grotesk"/>
              </a:rPr>
              <a:t> – Checks memes and family updates during lunch break.</a:t>
            </a:r>
          </a:p>
          <a:p>
            <a:pPr marL="289240" lvl="1" indent="-144620" algn="l">
              <a:lnSpc>
                <a:spcPts val="1741"/>
              </a:lnSpc>
              <a:buFont typeface="Arial"/>
              <a:buChar char="•"/>
            </a:pPr>
            <a:r>
              <a:rPr lang="en-US" sz="1339" b="1">
                <a:solidFill>
                  <a:srgbClr val="FFFFFF"/>
                </a:solidFill>
                <a:latin typeface="HK Grotesk Semi-Bold"/>
                <a:ea typeface="HK Grotesk Semi-Bold"/>
                <a:cs typeface="HK Grotesk Semi-Bold"/>
                <a:sym typeface="HK Grotesk Semi-Bold"/>
              </a:rPr>
              <a:t>4:00 PM 🚌</a:t>
            </a:r>
            <a:r>
              <a:rPr lang="en-US" sz="1339">
                <a:solidFill>
                  <a:srgbClr val="FFFFFF"/>
                </a:solidFill>
                <a:latin typeface="HK Grotesk"/>
                <a:ea typeface="HK Grotesk"/>
                <a:cs typeface="HK Grotesk"/>
                <a:sym typeface="HK Grotesk"/>
              </a:rPr>
              <a:t> – Passively browses suggested posts on commute home.</a:t>
            </a:r>
          </a:p>
          <a:p>
            <a:pPr marL="289240" lvl="1" indent="-144620" algn="l">
              <a:lnSpc>
                <a:spcPts val="1741"/>
              </a:lnSpc>
              <a:buFont typeface="Arial"/>
              <a:buChar char="•"/>
            </a:pPr>
            <a:r>
              <a:rPr lang="en-US" sz="1339" b="1">
                <a:solidFill>
                  <a:srgbClr val="FFFFFF"/>
                </a:solidFill>
                <a:latin typeface="HK Grotesk Semi-Bold"/>
                <a:ea typeface="HK Grotesk Semi-Bold"/>
                <a:cs typeface="HK Grotesk Semi-Bold"/>
                <a:sym typeface="HK Grotesk Semi-Bold"/>
              </a:rPr>
              <a:t>7:00 PM 📱</a:t>
            </a:r>
            <a:r>
              <a:rPr lang="en-US" sz="1339">
                <a:solidFill>
                  <a:srgbClr val="FFFFFF"/>
                </a:solidFill>
                <a:latin typeface="HK Grotesk"/>
                <a:ea typeface="HK Grotesk"/>
                <a:cs typeface="HK Grotesk"/>
                <a:sym typeface="HK Grotesk"/>
              </a:rPr>
              <a:t> – Watches short reels or reads comments on favorite hobby pages.</a:t>
            </a:r>
          </a:p>
          <a:p>
            <a:pPr marL="289240" lvl="1" indent="-144620" algn="l">
              <a:lnSpc>
                <a:spcPts val="1741"/>
              </a:lnSpc>
              <a:buFont typeface="Arial"/>
              <a:buChar char="•"/>
            </a:pPr>
            <a:r>
              <a:rPr lang="en-US" sz="1339" b="1">
                <a:solidFill>
                  <a:srgbClr val="FFFFFF"/>
                </a:solidFill>
                <a:latin typeface="HK Grotesk Semi-Bold"/>
                <a:ea typeface="HK Grotesk Semi-Bold"/>
                <a:cs typeface="HK Grotesk Semi-Bold"/>
                <a:sym typeface="HK Grotesk Semi-Bold"/>
              </a:rPr>
              <a:t>9:30 PM 🌙</a:t>
            </a:r>
            <a:r>
              <a:rPr lang="en-US" sz="1339">
                <a:solidFill>
                  <a:srgbClr val="FFFFFF"/>
                </a:solidFill>
                <a:latin typeface="HK Grotesk"/>
                <a:ea typeface="HK Grotesk"/>
                <a:cs typeface="HK Grotesk"/>
                <a:sym typeface="HK Grotesk"/>
              </a:rPr>
              <a:t> – Logs off early to avoid endless scrolling and screen fatigue.</a:t>
            </a:r>
          </a:p>
          <a:p>
            <a:pPr algn="l">
              <a:lnSpc>
                <a:spcPts val="1741"/>
              </a:lnSpc>
            </a:pPr>
            <a:r>
              <a:rPr lang="en-US" sz="1339" b="1">
                <a:solidFill>
                  <a:srgbClr val="FFFFFF"/>
                </a:solidFill>
                <a:latin typeface="HK Grotesk Semi-Bold"/>
                <a:ea typeface="HK Grotesk Semi-Bold"/>
                <a:cs typeface="HK Grotesk Semi-Bold"/>
                <a:sym typeface="HK Grotesk Semi-Bold"/>
              </a:rPr>
              <a:t>Extra Educational Insight:</a:t>
            </a:r>
          </a:p>
          <a:p>
            <a:pPr algn="l">
              <a:lnSpc>
                <a:spcPts val="1741"/>
              </a:lnSpc>
            </a:pPr>
            <a:r>
              <a:rPr lang="en-US" sz="1339">
                <a:solidFill>
                  <a:srgbClr val="FFFFFF"/>
                </a:solidFill>
                <a:latin typeface="HK Grotesk"/>
                <a:ea typeface="HK Grotesk"/>
                <a:cs typeface="HK Grotesk"/>
                <a:sym typeface="HK Grotesk"/>
              </a:rPr>
              <a:t>Ron’s day highlights </a:t>
            </a:r>
            <a:r>
              <a:rPr lang="en-US" sz="1339" b="1">
                <a:solidFill>
                  <a:srgbClr val="FFFFFF"/>
                </a:solidFill>
                <a:latin typeface="HK Grotesk Semi-Bold"/>
                <a:ea typeface="HK Grotesk Semi-Bold"/>
                <a:cs typeface="HK Grotesk Semi-Bold"/>
                <a:sym typeface="HK Grotesk Semi-Bold"/>
              </a:rPr>
              <a:t>passive consumption patterns</a:t>
            </a:r>
            <a:r>
              <a:rPr lang="en-US" sz="1339">
                <a:solidFill>
                  <a:srgbClr val="FFFFFF"/>
                </a:solidFill>
                <a:latin typeface="HK Grotesk"/>
                <a:ea typeface="HK Grotesk"/>
                <a:cs typeface="HK Grotesk"/>
                <a:sym typeface="HK Grotesk"/>
              </a:rPr>
              <a:t> and the </a:t>
            </a:r>
            <a:r>
              <a:rPr lang="en-US" sz="1339" b="1">
                <a:solidFill>
                  <a:srgbClr val="FFFFFF"/>
                </a:solidFill>
                <a:latin typeface="HK Grotesk Semi-Bold"/>
                <a:ea typeface="HK Grotesk Semi-Bold"/>
                <a:cs typeface="HK Grotesk Semi-Bold"/>
                <a:sym typeface="HK Grotesk Semi-Bold"/>
              </a:rPr>
              <a:t>impact of algorithmic design on user attention</a:t>
            </a:r>
            <a:r>
              <a:rPr lang="en-US" sz="1339">
                <a:solidFill>
                  <a:srgbClr val="FFFFFF"/>
                </a:solidFill>
                <a:latin typeface="HK Grotesk"/>
                <a:ea typeface="HK Grotesk"/>
                <a:cs typeface="HK Grotesk"/>
                <a:sym typeface="HK Grotesk"/>
              </a:rPr>
              <a:t>, offering a valuable lens for studying </a:t>
            </a:r>
            <a:r>
              <a:rPr lang="en-US" sz="1339" b="1">
                <a:solidFill>
                  <a:srgbClr val="FFFFFF"/>
                </a:solidFill>
                <a:latin typeface="HK Grotesk Semi-Bold"/>
                <a:ea typeface="HK Grotesk Semi-Bold"/>
                <a:cs typeface="HK Grotesk Semi-Bold"/>
                <a:sym typeface="HK Grotesk Semi-Bold"/>
              </a:rPr>
              <a:t>digital well-being and user experience design</a:t>
            </a:r>
            <a:r>
              <a:rPr lang="en-US" sz="1339">
                <a:solidFill>
                  <a:srgbClr val="FFFFFF"/>
                </a:solidFill>
                <a:latin typeface="HK Grotesk"/>
                <a:ea typeface="HK Grotesk"/>
                <a:cs typeface="HK Grotesk"/>
                <a:sym typeface="HK Grotesk"/>
              </a:rPr>
              <a:t>.</a:t>
            </a:r>
          </a:p>
          <a:p>
            <a:pPr marL="0" lvl="0" indent="0" algn="l">
              <a:lnSpc>
                <a:spcPts val="1741"/>
              </a:lnSpc>
              <a:spcBef>
                <a:spcPct val="0"/>
              </a:spcBef>
            </a:pPr>
            <a:endParaRPr lang="en-US" sz="1339">
              <a:solidFill>
                <a:srgbClr val="FFFFFF"/>
              </a:solidFill>
              <a:latin typeface="HK Grotesk"/>
              <a:ea typeface="HK Grotesk"/>
              <a:cs typeface="HK Grotesk"/>
              <a:sym typeface="HK Grotesk"/>
            </a:endParaRPr>
          </a:p>
        </p:txBody>
      </p:sp>
      <p:sp>
        <p:nvSpPr>
          <p:cNvPr id="12" name="TextBox 12"/>
          <p:cNvSpPr txBox="1"/>
          <p:nvPr/>
        </p:nvSpPr>
        <p:spPr>
          <a:xfrm>
            <a:off x="9609667" y="4614896"/>
            <a:ext cx="8456991" cy="3429832"/>
          </a:xfrm>
          <a:prstGeom prst="rect">
            <a:avLst/>
          </a:prstGeom>
        </p:spPr>
        <p:txBody>
          <a:bodyPr lIns="0" tIns="0" rIns="0" bIns="0" rtlCol="0" anchor="t">
            <a:spAutoFit/>
          </a:bodyPr>
          <a:lstStyle/>
          <a:p>
            <a:pPr algn="l">
              <a:lnSpc>
                <a:spcPts val="1864"/>
              </a:lnSpc>
            </a:pPr>
            <a:r>
              <a:rPr lang="en-US" sz="1434" b="1">
                <a:solidFill>
                  <a:srgbClr val="5A3E26"/>
                </a:solidFill>
                <a:latin typeface="HK Grotesk Bold"/>
                <a:ea typeface="HK Grotesk Bold"/>
                <a:cs typeface="HK Grotesk Bold"/>
                <a:sym typeface="HK Grotesk Bold"/>
              </a:rPr>
              <a:t>👩‍💼 Priya Patel – The Entrepreneurial Creator (Small Business Owner, 34, Chicago)</a:t>
            </a:r>
          </a:p>
          <a:p>
            <a:pPr algn="l">
              <a:lnSpc>
                <a:spcPts val="1864"/>
              </a:lnSpc>
            </a:pPr>
            <a:r>
              <a:rPr lang="en-US" sz="1434" b="1">
                <a:solidFill>
                  <a:srgbClr val="5A3E26"/>
                </a:solidFill>
                <a:latin typeface="HK Grotesk Semi-Bold"/>
                <a:ea typeface="HK Grotesk Semi-Bold"/>
                <a:cs typeface="HK Grotesk Semi-Bold"/>
                <a:sym typeface="HK Grotesk Semi-Bold"/>
              </a:rPr>
              <a:t>Goal:</a:t>
            </a:r>
            <a:r>
              <a:rPr lang="en-US" sz="1434">
                <a:solidFill>
                  <a:srgbClr val="5A3E26"/>
                </a:solidFill>
                <a:latin typeface="HK Grotesk"/>
                <a:ea typeface="HK Grotesk"/>
                <a:cs typeface="HK Grotesk"/>
                <a:sym typeface="HK Grotesk"/>
              </a:rPr>
              <a:t> Use Instagram to grow her eco-friendly jewelry brand and connect with customers.</a:t>
            </a:r>
          </a:p>
          <a:p>
            <a:pPr algn="l">
              <a:lnSpc>
                <a:spcPts val="1864"/>
              </a:lnSpc>
            </a:pPr>
            <a:r>
              <a:rPr lang="en-US" sz="1434" b="1">
                <a:solidFill>
                  <a:srgbClr val="5A3E26"/>
                </a:solidFill>
                <a:latin typeface="HK Grotesk Semi-Bold"/>
                <a:ea typeface="HK Grotesk Semi-Bold"/>
                <a:cs typeface="HK Grotesk Semi-Bold"/>
                <a:sym typeface="HK Grotesk Semi-Bold"/>
              </a:rPr>
              <a:t>Tone:</a:t>
            </a:r>
            <a:r>
              <a:rPr lang="en-US" sz="1434">
                <a:solidFill>
                  <a:srgbClr val="5A3E26"/>
                </a:solidFill>
                <a:latin typeface="HK Grotesk"/>
                <a:ea typeface="HK Grotesk"/>
                <a:cs typeface="HK Grotesk"/>
                <a:sym typeface="HK Grotesk"/>
              </a:rPr>
              <a:t> Strategic, data-driven, and customer-focused.</a:t>
            </a:r>
          </a:p>
          <a:p>
            <a:pPr algn="l">
              <a:lnSpc>
                <a:spcPts val="1864"/>
              </a:lnSpc>
            </a:pPr>
            <a:r>
              <a:rPr lang="en-US" sz="1434" b="1">
                <a:solidFill>
                  <a:srgbClr val="5A3E26"/>
                </a:solidFill>
                <a:latin typeface="HK Grotesk Semi-Bold"/>
                <a:ea typeface="HK Grotesk Semi-Bold"/>
                <a:cs typeface="HK Grotesk Semi-Bold"/>
                <a:sym typeface="HK Grotesk Semi-Bold"/>
              </a:rPr>
              <a:t> Timeline:</a:t>
            </a:r>
          </a:p>
          <a:p>
            <a:pPr marL="309712" lvl="1" indent="-154856" algn="l">
              <a:lnSpc>
                <a:spcPts val="1864"/>
              </a:lnSpc>
              <a:buFont typeface="Arial"/>
              <a:buChar char="•"/>
            </a:pPr>
            <a:r>
              <a:rPr lang="en-US" sz="1434" b="1">
                <a:solidFill>
                  <a:srgbClr val="5A3E26"/>
                </a:solidFill>
                <a:latin typeface="HK Grotesk Semi-Bold"/>
                <a:ea typeface="HK Grotesk Semi-Bold"/>
                <a:cs typeface="HK Grotesk Semi-Bold"/>
                <a:sym typeface="HK Grotesk Semi-Bold"/>
              </a:rPr>
              <a:t>8:00 AM ☕</a:t>
            </a:r>
            <a:r>
              <a:rPr lang="en-US" sz="1434">
                <a:solidFill>
                  <a:srgbClr val="5A3E26"/>
                </a:solidFill>
                <a:latin typeface="HK Grotesk"/>
                <a:ea typeface="HK Grotesk"/>
                <a:cs typeface="HK Grotesk"/>
                <a:sym typeface="HK Grotesk"/>
              </a:rPr>
              <a:t> – Reviews overnight engagement and analytics reports.</a:t>
            </a:r>
          </a:p>
          <a:p>
            <a:pPr marL="309712" lvl="1" indent="-154856" algn="l">
              <a:lnSpc>
                <a:spcPts val="1864"/>
              </a:lnSpc>
              <a:buFont typeface="Arial"/>
              <a:buChar char="•"/>
            </a:pPr>
            <a:r>
              <a:rPr lang="en-US" sz="1434" b="1">
                <a:solidFill>
                  <a:srgbClr val="5A3E26"/>
                </a:solidFill>
                <a:latin typeface="HK Grotesk Semi-Bold"/>
                <a:ea typeface="HK Grotesk Semi-Bold"/>
                <a:cs typeface="HK Grotesk Semi-Bold"/>
                <a:sym typeface="HK Grotesk Semi-Bold"/>
              </a:rPr>
              <a:t>10:00 AM 💻</a:t>
            </a:r>
            <a:r>
              <a:rPr lang="en-US" sz="1434">
                <a:solidFill>
                  <a:srgbClr val="5A3E26"/>
                </a:solidFill>
                <a:latin typeface="HK Grotesk"/>
                <a:ea typeface="HK Grotesk"/>
                <a:cs typeface="HK Grotesk"/>
                <a:sym typeface="HK Grotesk"/>
              </a:rPr>
              <a:t> – Schedules product posts and stories for the day.</a:t>
            </a:r>
          </a:p>
          <a:p>
            <a:pPr marL="309712" lvl="1" indent="-154856" algn="l">
              <a:lnSpc>
                <a:spcPts val="1864"/>
              </a:lnSpc>
              <a:buFont typeface="Arial"/>
              <a:buChar char="•"/>
            </a:pPr>
            <a:r>
              <a:rPr lang="en-US" sz="1434" b="1">
                <a:solidFill>
                  <a:srgbClr val="5A3E26"/>
                </a:solidFill>
                <a:latin typeface="HK Grotesk Semi-Bold"/>
                <a:ea typeface="HK Grotesk Semi-Bold"/>
                <a:cs typeface="HK Grotesk Semi-Bold"/>
                <a:sym typeface="HK Grotesk Semi-Bold"/>
              </a:rPr>
              <a:t>12:30 PM 💬</a:t>
            </a:r>
            <a:r>
              <a:rPr lang="en-US" sz="1434">
                <a:solidFill>
                  <a:srgbClr val="5A3E26"/>
                </a:solidFill>
                <a:latin typeface="HK Grotesk"/>
                <a:ea typeface="HK Grotesk"/>
                <a:cs typeface="HK Grotesk"/>
                <a:sym typeface="HK Grotesk"/>
              </a:rPr>
              <a:t> – Responds to customer DMs and comments during lunch.</a:t>
            </a:r>
          </a:p>
          <a:p>
            <a:pPr marL="309712" lvl="1" indent="-154856" algn="l">
              <a:lnSpc>
                <a:spcPts val="1864"/>
              </a:lnSpc>
              <a:buFont typeface="Arial"/>
              <a:buChar char="•"/>
            </a:pPr>
            <a:r>
              <a:rPr lang="en-US" sz="1434" b="1">
                <a:solidFill>
                  <a:srgbClr val="5A3E26"/>
                </a:solidFill>
                <a:latin typeface="HK Grotesk Semi-Bold"/>
                <a:ea typeface="HK Grotesk Semi-Bold"/>
                <a:cs typeface="HK Grotesk Semi-Bold"/>
                <a:sym typeface="HK Grotesk Semi-Bold"/>
              </a:rPr>
              <a:t>3:00 PM 📊</a:t>
            </a:r>
            <a:r>
              <a:rPr lang="en-US" sz="1434">
                <a:solidFill>
                  <a:srgbClr val="5A3E26"/>
                </a:solidFill>
                <a:latin typeface="HK Grotesk"/>
                <a:ea typeface="HK Grotesk"/>
                <a:cs typeface="HK Grotesk"/>
                <a:sym typeface="HK Grotesk"/>
              </a:rPr>
              <a:t> – Tracks campaign performance and adjusts hashtags or captions.</a:t>
            </a:r>
          </a:p>
          <a:p>
            <a:pPr marL="309712" lvl="1" indent="-154856" algn="l">
              <a:lnSpc>
                <a:spcPts val="1864"/>
              </a:lnSpc>
              <a:buFont typeface="Arial"/>
              <a:buChar char="•"/>
            </a:pPr>
            <a:r>
              <a:rPr lang="en-US" sz="1434" b="1">
                <a:solidFill>
                  <a:srgbClr val="5A3E26"/>
                </a:solidFill>
                <a:latin typeface="HK Grotesk Semi-Bold"/>
                <a:ea typeface="HK Grotesk Semi-Bold"/>
                <a:cs typeface="HK Grotesk Semi-Bold"/>
                <a:sym typeface="HK Grotesk Semi-Bold"/>
              </a:rPr>
              <a:t>6:00 PM 🛍️</a:t>
            </a:r>
            <a:r>
              <a:rPr lang="en-US" sz="1434">
                <a:solidFill>
                  <a:srgbClr val="5A3E26"/>
                </a:solidFill>
                <a:latin typeface="HK Grotesk"/>
                <a:ea typeface="HK Grotesk"/>
                <a:cs typeface="HK Grotesk"/>
                <a:sym typeface="HK Grotesk"/>
              </a:rPr>
              <a:t> – Collaborates with influencers or posts behind-the-scenes content.</a:t>
            </a:r>
          </a:p>
          <a:p>
            <a:pPr marL="309712" lvl="1" indent="-154856" algn="l">
              <a:lnSpc>
                <a:spcPts val="1864"/>
              </a:lnSpc>
              <a:buFont typeface="Arial"/>
              <a:buChar char="•"/>
            </a:pPr>
            <a:r>
              <a:rPr lang="en-US" sz="1434" b="1">
                <a:solidFill>
                  <a:srgbClr val="5A3E26"/>
                </a:solidFill>
                <a:latin typeface="HK Grotesk Semi-Bold"/>
                <a:ea typeface="HK Grotesk Semi-Bold"/>
                <a:cs typeface="HK Grotesk Semi-Bold"/>
                <a:sym typeface="HK Grotesk Semi-Bold"/>
              </a:rPr>
              <a:t>9:00 PM 🌙</a:t>
            </a:r>
            <a:r>
              <a:rPr lang="en-US" sz="1434">
                <a:solidFill>
                  <a:srgbClr val="5A3E26"/>
                </a:solidFill>
                <a:latin typeface="HK Grotesk"/>
                <a:ea typeface="HK Grotesk"/>
                <a:cs typeface="HK Grotesk"/>
                <a:sym typeface="HK Grotesk"/>
              </a:rPr>
              <a:t> – Reflects on daily engagement and plans next day’s content strategy.</a:t>
            </a:r>
          </a:p>
          <a:p>
            <a:pPr algn="l">
              <a:lnSpc>
                <a:spcPts val="1864"/>
              </a:lnSpc>
            </a:pPr>
            <a:r>
              <a:rPr lang="en-US" sz="1434" b="1">
                <a:solidFill>
                  <a:srgbClr val="5A3E26"/>
                </a:solidFill>
                <a:latin typeface="HK Grotesk Semi-Bold"/>
                <a:ea typeface="HK Grotesk Semi-Bold"/>
                <a:cs typeface="HK Grotesk Semi-Bold"/>
                <a:sym typeface="HK Grotesk Semi-Bold"/>
              </a:rPr>
              <a:t>Extra Educational Insight:</a:t>
            </a:r>
          </a:p>
          <a:p>
            <a:pPr algn="l">
              <a:lnSpc>
                <a:spcPts val="1864"/>
              </a:lnSpc>
            </a:pPr>
            <a:r>
              <a:rPr lang="en-US" sz="1434">
                <a:solidFill>
                  <a:srgbClr val="5A3E26"/>
                </a:solidFill>
                <a:latin typeface="HK Grotesk"/>
                <a:ea typeface="HK Grotesk"/>
                <a:cs typeface="HK Grotesk"/>
                <a:sym typeface="HK Grotesk"/>
              </a:rPr>
              <a:t>Priya’s schedule demonstrates </a:t>
            </a:r>
            <a:r>
              <a:rPr lang="en-US" sz="1434" b="1">
                <a:solidFill>
                  <a:srgbClr val="5A3E26"/>
                </a:solidFill>
                <a:latin typeface="HK Grotesk Semi-Bold"/>
                <a:ea typeface="HK Grotesk Semi-Bold"/>
                <a:cs typeface="HK Grotesk Semi-Bold"/>
                <a:sym typeface="HK Grotesk Semi-Bold"/>
              </a:rPr>
              <a:t>how small business owners integrate social media marketing into daily operations</a:t>
            </a:r>
            <a:r>
              <a:rPr lang="en-US" sz="1434">
                <a:solidFill>
                  <a:srgbClr val="5A3E26"/>
                </a:solidFill>
                <a:latin typeface="HK Grotesk"/>
                <a:ea typeface="HK Grotesk"/>
                <a:cs typeface="HK Grotesk"/>
                <a:sym typeface="HK Grotesk"/>
              </a:rPr>
              <a:t>, balancing </a:t>
            </a:r>
            <a:r>
              <a:rPr lang="en-US" sz="1434" b="1">
                <a:solidFill>
                  <a:srgbClr val="5A3E26"/>
                </a:solidFill>
                <a:latin typeface="HK Grotesk Semi-Bold"/>
                <a:ea typeface="HK Grotesk Semi-Bold"/>
                <a:cs typeface="HK Grotesk Semi-Bold"/>
                <a:sym typeface="HK Grotesk Semi-Bold"/>
              </a:rPr>
              <a:t>brand storytelling, analytics, and customer engagement</a:t>
            </a:r>
            <a:r>
              <a:rPr lang="en-US" sz="1434">
                <a:solidFill>
                  <a:srgbClr val="5A3E26"/>
                </a:solidFill>
                <a:latin typeface="HK Grotesk"/>
                <a:ea typeface="HK Grotesk"/>
                <a:cs typeface="HK Grotesk"/>
                <a:sym typeface="HK Grotesk"/>
              </a:rPr>
              <a:t> — ideal for discussions on digital entrepreneurship.</a:t>
            </a:r>
          </a:p>
          <a:p>
            <a:pPr marL="0" lvl="0" indent="0" algn="l">
              <a:lnSpc>
                <a:spcPts val="1864"/>
              </a:lnSpc>
              <a:spcBef>
                <a:spcPct val="0"/>
              </a:spcBef>
            </a:pPr>
            <a:endParaRPr lang="en-US" sz="1434">
              <a:solidFill>
                <a:srgbClr val="5A3E26"/>
              </a:solidFill>
              <a:latin typeface="HK Grotesk"/>
              <a:ea typeface="HK Grotesk"/>
              <a:cs typeface="HK Grotesk"/>
              <a:sym typeface="HK Grotesk"/>
            </a:endParaRPr>
          </a:p>
        </p:txBody>
      </p:sp>
      <p:grpSp>
        <p:nvGrpSpPr>
          <p:cNvPr id="13" name="Group 13"/>
          <p:cNvGrpSpPr/>
          <p:nvPr/>
        </p:nvGrpSpPr>
        <p:grpSpPr>
          <a:xfrm>
            <a:off x="727666" y="2364302"/>
            <a:ext cx="323850" cy="321748"/>
            <a:chOff x="0" y="0"/>
            <a:chExt cx="6350000" cy="6308792"/>
          </a:xfrm>
        </p:grpSpPr>
        <p:sp>
          <p:nvSpPr>
            <p:cNvPr id="14" name="Freeform 14"/>
            <p:cNvSpPr/>
            <p:nvPr/>
          </p:nvSpPr>
          <p:spPr>
            <a:xfrm>
              <a:off x="0" y="0"/>
              <a:ext cx="6350000" cy="6308792"/>
            </a:xfrm>
            <a:custGeom>
              <a:avLst/>
              <a:gdLst/>
              <a:ahLst/>
              <a:cxnLst/>
              <a:rect l="l" t="t" r="r" b="b"/>
              <a:pathLst>
                <a:path w="6350000" h="6308792">
                  <a:moveTo>
                    <a:pt x="3175000" y="0"/>
                  </a:moveTo>
                  <a:cubicBezTo>
                    <a:pt x="1421496" y="0"/>
                    <a:pt x="0" y="1412271"/>
                    <a:pt x="0" y="3154396"/>
                  </a:cubicBezTo>
                  <a:cubicBezTo>
                    <a:pt x="0" y="4896521"/>
                    <a:pt x="1421496" y="6308792"/>
                    <a:pt x="3175000" y="6308792"/>
                  </a:cubicBezTo>
                  <a:cubicBezTo>
                    <a:pt x="4928504" y="6308792"/>
                    <a:pt x="6350000" y="4896521"/>
                    <a:pt x="6350000" y="3154396"/>
                  </a:cubicBezTo>
                  <a:cubicBezTo>
                    <a:pt x="6350000" y="1412271"/>
                    <a:pt x="4928504" y="0"/>
                    <a:pt x="3175000" y="0"/>
                  </a:cubicBezTo>
                  <a:close/>
                </a:path>
              </a:pathLst>
            </a:custGeom>
            <a:solidFill>
              <a:srgbClr val="A07BBF"/>
            </a:solidFill>
          </p:spPr>
        </p:sp>
      </p:grpSp>
      <p:grpSp>
        <p:nvGrpSpPr>
          <p:cNvPr id="15" name="Group 15"/>
          <p:cNvGrpSpPr/>
          <p:nvPr/>
        </p:nvGrpSpPr>
        <p:grpSpPr>
          <a:xfrm>
            <a:off x="5465991" y="2364302"/>
            <a:ext cx="323850" cy="321748"/>
            <a:chOff x="0" y="0"/>
            <a:chExt cx="6350000" cy="6308792"/>
          </a:xfrm>
        </p:grpSpPr>
        <p:sp>
          <p:nvSpPr>
            <p:cNvPr id="16" name="Freeform 16"/>
            <p:cNvSpPr/>
            <p:nvPr/>
          </p:nvSpPr>
          <p:spPr>
            <a:xfrm>
              <a:off x="0" y="0"/>
              <a:ext cx="6350000" cy="6308792"/>
            </a:xfrm>
            <a:custGeom>
              <a:avLst/>
              <a:gdLst/>
              <a:ahLst/>
              <a:cxnLst/>
              <a:rect l="l" t="t" r="r" b="b"/>
              <a:pathLst>
                <a:path w="6350000" h="6308792">
                  <a:moveTo>
                    <a:pt x="3175000" y="0"/>
                  </a:moveTo>
                  <a:cubicBezTo>
                    <a:pt x="1421496" y="0"/>
                    <a:pt x="0" y="1412271"/>
                    <a:pt x="0" y="3154396"/>
                  </a:cubicBezTo>
                  <a:cubicBezTo>
                    <a:pt x="0" y="4896521"/>
                    <a:pt x="1421496" y="6308792"/>
                    <a:pt x="3175000" y="6308792"/>
                  </a:cubicBezTo>
                  <a:cubicBezTo>
                    <a:pt x="4928504" y="6308792"/>
                    <a:pt x="6350000" y="4896521"/>
                    <a:pt x="6350000" y="3154396"/>
                  </a:cubicBezTo>
                  <a:cubicBezTo>
                    <a:pt x="6350000" y="1412271"/>
                    <a:pt x="4928504" y="0"/>
                    <a:pt x="3175000" y="0"/>
                  </a:cubicBezTo>
                  <a:close/>
                </a:path>
              </a:pathLst>
            </a:custGeom>
            <a:solidFill>
              <a:srgbClr val="A07BBF"/>
            </a:solidFill>
          </p:spPr>
        </p:sp>
      </p:grpSp>
      <p:grpSp>
        <p:nvGrpSpPr>
          <p:cNvPr id="17" name="Group 17"/>
          <p:cNvGrpSpPr/>
          <p:nvPr/>
        </p:nvGrpSpPr>
        <p:grpSpPr>
          <a:xfrm>
            <a:off x="10265231" y="2364302"/>
            <a:ext cx="323850" cy="321748"/>
            <a:chOff x="0" y="0"/>
            <a:chExt cx="6350000" cy="6308792"/>
          </a:xfrm>
        </p:grpSpPr>
        <p:sp>
          <p:nvSpPr>
            <p:cNvPr id="18" name="Freeform 18"/>
            <p:cNvSpPr/>
            <p:nvPr/>
          </p:nvSpPr>
          <p:spPr>
            <a:xfrm>
              <a:off x="0" y="0"/>
              <a:ext cx="6350000" cy="6308792"/>
            </a:xfrm>
            <a:custGeom>
              <a:avLst/>
              <a:gdLst/>
              <a:ahLst/>
              <a:cxnLst/>
              <a:rect l="l" t="t" r="r" b="b"/>
              <a:pathLst>
                <a:path w="6350000" h="6308792">
                  <a:moveTo>
                    <a:pt x="3175000" y="0"/>
                  </a:moveTo>
                  <a:cubicBezTo>
                    <a:pt x="1421496" y="0"/>
                    <a:pt x="0" y="1412271"/>
                    <a:pt x="0" y="3154396"/>
                  </a:cubicBezTo>
                  <a:cubicBezTo>
                    <a:pt x="0" y="4896521"/>
                    <a:pt x="1421496" y="6308792"/>
                    <a:pt x="3175000" y="6308792"/>
                  </a:cubicBezTo>
                  <a:cubicBezTo>
                    <a:pt x="4928504" y="6308792"/>
                    <a:pt x="6350000" y="4896521"/>
                    <a:pt x="6350000" y="3154396"/>
                  </a:cubicBezTo>
                  <a:cubicBezTo>
                    <a:pt x="6350000" y="1412271"/>
                    <a:pt x="4928504" y="0"/>
                    <a:pt x="3175000" y="0"/>
                  </a:cubicBezTo>
                  <a:close/>
                </a:path>
              </a:pathLst>
            </a:custGeom>
            <a:solidFill>
              <a:srgbClr val="A07BBF"/>
            </a:solidFill>
          </p:spPr>
        </p:sp>
      </p:grpSp>
      <p:grpSp>
        <p:nvGrpSpPr>
          <p:cNvPr id="19" name="Group 19"/>
          <p:cNvGrpSpPr/>
          <p:nvPr/>
        </p:nvGrpSpPr>
        <p:grpSpPr>
          <a:xfrm>
            <a:off x="14902547" y="2364302"/>
            <a:ext cx="323850" cy="321748"/>
            <a:chOff x="0" y="0"/>
            <a:chExt cx="6350000" cy="6308792"/>
          </a:xfrm>
        </p:grpSpPr>
        <p:sp>
          <p:nvSpPr>
            <p:cNvPr id="20" name="Freeform 20"/>
            <p:cNvSpPr/>
            <p:nvPr/>
          </p:nvSpPr>
          <p:spPr>
            <a:xfrm>
              <a:off x="0" y="0"/>
              <a:ext cx="6350000" cy="6308792"/>
            </a:xfrm>
            <a:custGeom>
              <a:avLst/>
              <a:gdLst/>
              <a:ahLst/>
              <a:cxnLst/>
              <a:rect l="l" t="t" r="r" b="b"/>
              <a:pathLst>
                <a:path w="6350000" h="6308792">
                  <a:moveTo>
                    <a:pt x="3175000" y="0"/>
                  </a:moveTo>
                  <a:cubicBezTo>
                    <a:pt x="1421496" y="0"/>
                    <a:pt x="0" y="1412271"/>
                    <a:pt x="0" y="3154396"/>
                  </a:cubicBezTo>
                  <a:cubicBezTo>
                    <a:pt x="0" y="4896521"/>
                    <a:pt x="1421496" y="6308792"/>
                    <a:pt x="3175000" y="6308792"/>
                  </a:cubicBezTo>
                  <a:cubicBezTo>
                    <a:pt x="4928504" y="6308792"/>
                    <a:pt x="6350000" y="4896521"/>
                    <a:pt x="6350000" y="3154396"/>
                  </a:cubicBezTo>
                  <a:cubicBezTo>
                    <a:pt x="6350000" y="1412271"/>
                    <a:pt x="4928504" y="0"/>
                    <a:pt x="3175000" y="0"/>
                  </a:cubicBezTo>
                  <a:close/>
                </a:path>
              </a:pathLst>
            </a:custGeom>
            <a:solidFill>
              <a:srgbClr val="A07BBF"/>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2104</Words>
  <Application>Microsoft Office PowerPoint</Application>
  <PresentationFormat>Custom</PresentationFormat>
  <Paragraphs>227</Paragraphs>
  <Slides>16</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16</vt:i4>
      </vt:variant>
    </vt:vector>
  </HeadingPairs>
  <TitlesOfParts>
    <vt:vector size="30" baseType="lpstr">
      <vt:lpstr>Arial</vt:lpstr>
      <vt:lpstr>Noto Serif Display ExtraCondensed Bold</vt:lpstr>
      <vt:lpstr>Georgia Pro Condensed</vt:lpstr>
      <vt:lpstr>Raleway</vt:lpstr>
      <vt:lpstr>Calibri</vt:lpstr>
      <vt:lpstr>HK Grotesk Semi-Bold</vt:lpstr>
      <vt:lpstr>Noto Serif Display ExtraCondensed Light</vt:lpstr>
      <vt:lpstr>HK Grotesk Light Italics</vt:lpstr>
      <vt:lpstr>HK Grotesk Bold</vt:lpstr>
      <vt:lpstr>Raleway Bold</vt:lpstr>
      <vt:lpstr>HK Grotesk Italics</vt:lpstr>
      <vt:lpstr>HK Grotesk Light</vt:lpstr>
      <vt:lpstr>HK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Grp-6 Instagram</dc:title>
  <dc:description>Presentation - User Personas Unveiled</dc:description>
  <cp:lastModifiedBy>Bhoomi Parikh</cp:lastModifiedBy>
  <cp:revision>2</cp:revision>
  <dcterms:created xsi:type="dcterms:W3CDTF">2006-08-16T00:00:00Z</dcterms:created>
  <dcterms:modified xsi:type="dcterms:W3CDTF">2025-11-03T23:24:26Z</dcterms:modified>
  <dc:identifier>DAG1mjZHClo</dc:identifier>
</cp:coreProperties>
</file>